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4" r:id="rId2"/>
    <p:sldId id="31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A6CE44-E9B3-4AB7-A23F-E28DE57863C9}" v="2" dt="2025-02-04T11:07:01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ana Pappireddy" userId="a06b5419-4d62-468c-bf51-8a7462837c92" providerId="ADAL" clId="{8CA6CE44-E9B3-4AB7-A23F-E28DE57863C9}"/>
    <pc:docChg chg="undo custSel addSld delSld modSld">
      <pc:chgData name="Bhavana Pappireddy" userId="a06b5419-4d62-468c-bf51-8a7462837c92" providerId="ADAL" clId="{8CA6CE44-E9B3-4AB7-A23F-E28DE57863C9}" dt="2025-02-04T11:11:03.387" v="28" actId="207"/>
      <pc:docMkLst>
        <pc:docMk/>
      </pc:docMkLst>
      <pc:sldChg chg="add del">
        <pc:chgData name="Bhavana Pappireddy" userId="a06b5419-4d62-468c-bf51-8a7462837c92" providerId="ADAL" clId="{8CA6CE44-E9B3-4AB7-A23F-E28DE57863C9}" dt="2025-02-04T11:07:13.505" v="2" actId="2696"/>
        <pc:sldMkLst>
          <pc:docMk/>
          <pc:sldMk cId="2082165336" sldId="3163"/>
        </pc:sldMkLst>
      </pc:sldChg>
      <pc:sldChg chg="modSp add mod">
        <pc:chgData name="Bhavana Pappireddy" userId="a06b5419-4d62-468c-bf51-8a7462837c92" providerId="ADAL" clId="{8CA6CE44-E9B3-4AB7-A23F-E28DE57863C9}" dt="2025-02-04T11:11:03.387" v="28" actId="207"/>
        <pc:sldMkLst>
          <pc:docMk/>
          <pc:sldMk cId="1622309640" sldId="3164"/>
        </pc:sldMkLst>
        <pc:spChg chg="mod">
          <ac:chgData name="Bhavana Pappireddy" userId="a06b5419-4d62-468c-bf51-8a7462837c92" providerId="ADAL" clId="{8CA6CE44-E9B3-4AB7-A23F-E28DE57863C9}" dt="2025-02-04T11:10:08.015" v="25" actId="2711"/>
          <ac:spMkLst>
            <pc:docMk/>
            <pc:sldMk cId="1622309640" sldId="3164"/>
            <ac:spMk id="2" creationId="{14E6C806-3C52-415C-94F6-A6497C4A9808}"/>
          </ac:spMkLst>
        </pc:spChg>
        <pc:spChg chg="mod">
          <ac:chgData name="Bhavana Pappireddy" userId="a06b5419-4d62-468c-bf51-8a7462837c92" providerId="ADAL" clId="{8CA6CE44-E9B3-4AB7-A23F-E28DE57863C9}" dt="2025-02-04T11:11:03.387" v="28" actId="207"/>
          <ac:spMkLst>
            <pc:docMk/>
            <pc:sldMk cId="1622309640" sldId="3164"/>
            <ac:spMk id="4" creationId="{30D17D58-F8CB-4874-AAE4-9F8D6C7717C6}"/>
          </ac:spMkLst>
        </pc:spChg>
        <pc:spChg chg="mod">
          <ac:chgData name="Bhavana Pappireddy" userId="a06b5419-4d62-468c-bf51-8a7462837c92" providerId="ADAL" clId="{8CA6CE44-E9B3-4AB7-A23F-E28DE57863C9}" dt="2025-02-04T11:08:13.589" v="19" actId="20577"/>
          <ac:spMkLst>
            <pc:docMk/>
            <pc:sldMk cId="1622309640" sldId="3164"/>
            <ac:spMk id="5" creationId="{9BAF6DD4-C305-4231-9595-AA4B146C3186}"/>
          </ac:spMkLst>
        </pc:spChg>
        <pc:spChg chg="mod">
          <ac:chgData name="Bhavana Pappireddy" userId="a06b5419-4d62-468c-bf51-8a7462837c92" providerId="ADAL" clId="{8CA6CE44-E9B3-4AB7-A23F-E28DE57863C9}" dt="2025-02-04T11:08:35.562" v="21" actId="403"/>
          <ac:spMkLst>
            <pc:docMk/>
            <pc:sldMk cId="1622309640" sldId="3164"/>
            <ac:spMk id="14" creationId="{3CC4ABB1-0722-A317-53CE-6D2A8082448E}"/>
          </ac:spMkLst>
        </pc:spChg>
        <pc:spChg chg="mod">
          <ac:chgData name="Bhavana Pappireddy" userId="a06b5419-4d62-468c-bf51-8a7462837c92" providerId="ADAL" clId="{8CA6CE44-E9B3-4AB7-A23F-E28DE57863C9}" dt="2025-02-04T11:10:44.574" v="26" actId="207"/>
          <ac:spMkLst>
            <pc:docMk/>
            <pc:sldMk cId="1622309640" sldId="3164"/>
            <ac:spMk id="15" creationId="{E137BA58-6531-4261-8586-FDC4CAC3437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CAD3-EF6D-D7E7-C205-BDC0F7C98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96B75-50DF-95B0-57EA-196A21952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8F0CF-F86D-A6C2-92FE-9C55E287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115C5-6979-80DE-852B-06E9EAF1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A3458-743A-6C30-699C-53F8073F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43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C778-DFDF-15E5-6089-1031837A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C20E5-703C-6ECC-4556-C7CC84EF6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45A0F-3C5F-2448-8D09-B5CA6DCAB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341D4-6755-0060-2E12-018B8D91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59796-0511-A74C-6363-74C46581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47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5977-9BFA-00A3-C1A7-97424271B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812E6-7D42-10D5-847B-E2A8B76EF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0F732-B928-EBE7-F376-3E177D64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7B54-4558-B6DE-3F68-7DE20471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7F58F-99CC-1D58-C073-5204339D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5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6FF5-9418-9697-76CA-877A419E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AAC5-77C6-3E3E-BA64-D78FE8D72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DC54D-6B45-3531-A3A5-16BCD21FE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8D01E-530E-9BAC-EA65-101C540E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F1A18-D540-5CA0-6468-B79A7470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CBA6F-B42B-DFA2-8FAF-5E48384A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71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06606-F7CC-C19C-B158-20705A3C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6F380-B561-506C-74CE-9EE47E49A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2EC1-2AA8-E757-E4D1-4B095110D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74FC2-5F31-C1D1-F497-B239BE41C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08837-B12F-9612-78F9-F75D44410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2C030-7B6E-09C1-9F81-1A4AF4C2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8B7F6-9A90-2528-A4EC-844B9242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D18F9-61F6-AFA1-6D4D-D3CFB6DBA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405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1DD4-AC12-5585-9014-5BA16F59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EE9B4-46DB-C834-C8C9-E1C2292C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3B7EA-CC63-CE79-7098-BBB6DB47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3C7CD-3F2B-E174-2FA2-F2FDBB44D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19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EB683-781B-6FF4-FB9B-CE1121E8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A310B-D72E-118A-E223-BE91D2D9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3C270-A971-ED0F-1A9F-CB9A4D3B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94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FAE6-49A7-1DC3-B74C-323B7E93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82AC6-559C-F041-7CD9-5BDE2557D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FAD81-F20A-41C5-63C9-ED6E463E2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04291-AFF0-14FC-8812-EC5126C4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F4E98-B611-C538-6CA6-77423CB5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9B2AB-8346-B2A0-7B80-02E56219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28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7945-9DFC-0E4C-73FE-EB335640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709E1C-4112-B1A3-C81E-8EBF57154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8ED01-3D7D-9ACD-5341-607FD1B67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B452D-3ACA-23A7-82E1-16CDB03C2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FF500-598E-A94C-868A-219DA3F9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D3BBE-6432-F8F0-48EC-310F75AD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75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2471-DF4B-7914-8483-FA1DE6BD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4842B-0F75-A0AD-8A6D-D00D4E149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01390-E6BB-9BD2-0889-202D627B2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726DE-6B02-8F5E-2188-FB22C0AF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AB68E-18A6-C55E-F32D-9CC72787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2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9DC8E-8631-DF71-27C4-55F26692F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FD684-C9B5-0B85-63B6-EE7D6D83A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B5964-8AB3-70D8-4903-09700DAB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ED4AB-834F-E45D-AA23-D26C99D8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E7500-B1D0-BF32-0863-8D067C99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3732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36CB0-8D4B-8903-0842-BAF35AA22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81DBD-B89E-3582-CBB9-B747B8D7C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C0586-7C3A-2C3F-E765-4280A0DB2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D43ED-2FCA-4A4E-8E2C-B560D173540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8BCFB-3D41-4A65-C96E-C2B115204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14A80-3E15-6AC8-FDCE-1B21A9594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56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C806-3C52-415C-94F6-A6497C4A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188" y="146182"/>
            <a:ext cx="10515600" cy="1325563"/>
          </a:xfrm>
        </p:spPr>
        <p:txBody>
          <a:bodyPr/>
          <a:lstStyle/>
          <a:p>
            <a:r>
              <a:rPr lang="en-IN" sz="4000" b="1" dirty="0">
                <a:latin typeface="Georgia" panose="02040502050405020303" pitchFamily="18" charset="0"/>
              </a:rPr>
              <a:t>Field-to-Record: Business Need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17D58-F8CB-4874-AAE4-9F8D6C7717C6}"/>
              </a:ext>
            </a:extLst>
          </p:cNvPr>
          <p:cNvSpPr/>
          <p:nvPr/>
        </p:nvSpPr>
        <p:spPr>
          <a:xfrm>
            <a:off x="563190" y="947793"/>
            <a:ext cx="2639962" cy="453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IN" sz="1400" b="1" dirty="0"/>
              <a:t>AREAS TO BE COVERED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F6DD4-C305-4231-9595-AA4B146C3186}"/>
              </a:ext>
            </a:extLst>
          </p:cNvPr>
          <p:cNvSpPr/>
          <p:nvPr/>
        </p:nvSpPr>
        <p:spPr>
          <a:xfrm>
            <a:off x="946646" y="1508760"/>
            <a:ext cx="2256505" cy="23317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sz="1300" b="1" dirty="0">
                <a:solidFill>
                  <a:sysClr val="windowText" lastClr="000000"/>
                </a:solidFill>
              </a:rPr>
              <a:t>BUSINESS NEED/ OPPORTUNITY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650E7-1727-4C4F-A024-5E882CFC7604}"/>
              </a:ext>
            </a:extLst>
          </p:cNvPr>
          <p:cNvSpPr/>
          <p:nvPr/>
        </p:nvSpPr>
        <p:spPr>
          <a:xfrm>
            <a:off x="563190" y="3931920"/>
            <a:ext cx="2639962" cy="22402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5113" algn="ctr"/>
            <a:r>
              <a:rPr lang="en-IN" sz="1300" b="1" dirty="0">
                <a:solidFill>
                  <a:sysClr val="windowText" lastClr="000000"/>
                </a:solidFill>
              </a:rPr>
              <a:t>TARGET SEGMENT/ MARKET SIZE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3722B8-8848-4C5C-AA5B-85607142AF80}"/>
              </a:ext>
            </a:extLst>
          </p:cNvPr>
          <p:cNvSpPr/>
          <p:nvPr/>
        </p:nvSpPr>
        <p:spPr>
          <a:xfrm>
            <a:off x="563190" y="1508760"/>
            <a:ext cx="383459" cy="2331720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ED4894-3456-45F0-AE87-FE8563315116}"/>
              </a:ext>
            </a:extLst>
          </p:cNvPr>
          <p:cNvSpPr/>
          <p:nvPr/>
        </p:nvSpPr>
        <p:spPr>
          <a:xfrm>
            <a:off x="563190" y="3931920"/>
            <a:ext cx="383459" cy="2240280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37BA58-6531-4261-8586-FDC4CAC34370}"/>
              </a:ext>
            </a:extLst>
          </p:cNvPr>
          <p:cNvSpPr/>
          <p:nvPr/>
        </p:nvSpPr>
        <p:spPr>
          <a:xfrm>
            <a:off x="3355552" y="947793"/>
            <a:ext cx="7693742" cy="453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IN" sz="1400" b="1" dirty="0"/>
              <a:t>OUR 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9BF301-BCEE-496F-9260-CEDDB5F81C9D}"/>
              </a:ext>
            </a:extLst>
          </p:cNvPr>
          <p:cNvSpPr/>
          <p:nvPr/>
        </p:nvSpPr>
        <p:spPr>
          <a:xfrm>
            <a:off x="3355552" y="1508760"/>
            <a:ext cx="7693742" cy="2331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/>
            <a:r>
              <a:rPr lang="en-US" sz="1100" dirty="0" b="1">
                <a:solidFill>
                  <a:sysClr val="windowText" lastClr="000000"/>
                </a:solidFill>
              </a:rPr>
              <a:t>Problem: </a:t>
            </a:r>
            <a:r>
              <a:rPr lang="en-US" sz="1100" dirty="0">
                <a:solidFill>
                  <a:sysClr val="windowText" lastClr="000000"/>
                </a:solidFill>
              </a:rPr>
              <a:t>ambulance crews give drugs and do procedures under pressure; the record is written later, from memory or on paper, so doses, routes and times get approximated at handover.</a:t>
            </a:r>
          </a:p>
          <a:p>
            <a:pPr>
              <a:spcBef>
                <a:spcPts val="400"/>
              </a:spcBef>
            </a:pPr>
            <a:r>
              <a:rPr lang="en-US" sz="1100" dirty="0" b="1">
                <a:solidFill>
                  <a:sysClr val="windowText" lastClr="000000"/>
                </a:solidFill>
              </a:rPr>
              <a:t>Unmet need: </a:t>
            </a:r>
            <a:r>
              <a:rPr lang="en-US" sz="1100" dirty="0">
                <a:solidFill>
                  <a:sysClr val="windowText" lastClr="000000"/>
                </a:solidFill>
              </a:rPr>
              <a:t>a way to document care while giving it – hands-free, in the language crews actually speak (English, Hindi, Hinglish), and working where there is no network.</a:t>
            </a:r>
          </a:p>
          <a:p>
            <a:pPr>
              <a:spcBef>
                <a:spcPts val="400"/>
              </a:spcBef>
            </a:pPr>
            <a:r>
              <a:rPr lang="en-US" sz="1100" dirty="0" b="1">
                <a:solidFill>
                  <a:sysClr val="windowText" lastClr="000000"/>
                </a:solidFill>
              </a:rPr>
              <a:t>Why it matters: </a:t>
            </a:r>
            <a:r>
              <a:rPr lang="en-US" sz="1100" dirty="0">
                <a:solidFill>
                  <a:sysClr val="windowText" lastClr="000000"/>
                </a:solidFill>
              </a:rPr>
              <a:t>this note is the first link in the clinical audit chain. An error here carries into every later decision, and paper cannot prove it was not changed afterwards.</a:t>
            </a:r>
          </a:p>
          <a:p>
            <a:pPr>
              <a:spcBef>
                <a:spcPts val="400"/>
              </a:spcBef>
            </a:pPr>
            <a:r>
              <a:rPr lang="en-US" sz="1100" dirty="0" b="1">
                <a:solidFill>
                  <a:sysClr val="windowText" lastClr="000000"/>
                </a:solidFill>
              </a:rPr>
              <a:t>Value created: </a:t>
            </a:r>
            <a:r>
              <a:rPr lang="en-US" sz="1100" dirty="0">
                <a:solidFill>
                  <a:sysClr val="windowText" lastClr="000000"/>
                </a:solidFill>
              </a:rPr>
              <a:t>a structured, timestamped record of every drug and procedure within seconds, a safer handover to the emergency department, and a tamper-evident trail for quality review and medico-legal use.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65099-1ADF-4AE7-BD6E-5ECA718EC539}"/>
              </a:ext>
            </a:extLst>
          </p:cNvPr>
          <p:cNvSpPr/>
          <p:nvPr/>
        </p:nvSpPr>
        <p:spPr>
          <a:xfrm>
            <a:off x="3355552" y="3931920"/>
            <a:ext cx="7693742" cy="2240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/>
            <a:r>
              <a:rPr lang="en-US" sz="1100" dirty="0" b="1">
                <a:solidFill>
                  <a:sysClr val="windowText" lastClr="000000"/>
                </a:solidFill>
              </a:rPr>
              <a:t>Target segment: </a:t>
            </a:r>
            <a:r>
              <a:rPr lang="en-US" sz="1100" dirty="0">
                <a:solidFill>
                  <a:sysClr val="windowText" lastClr="000000"/>
                </a:solidFill>
              </a:rPr>
              <a:t>EMS operators in India – state 108 emergency networks and their contracted operators, private ambulance fleets and hospital-owned ambulances. </a:t>
            </a:r>
            <a:r>
              <a:rPr lang="en-US" sz="1100" dirty="0" b="1">
                <a:solidFill>
                  <a:sysClr val="windowText" lastClr="000000"/>
                </a:solidFill>
              </a:rPr>
              <a:t>Users: </a:t>
            </a:r>
            <a:r>
              <a:rPr lang="en-US" sz="1100" dirty="0">
                <a:solidFill>
                  <a:sysClr val="windowText" lastClr="000000"/>
                </a:solidFill>
              </a:rPr>
              <a:t>paramedics / EMTs. </a:t>
            </a:r>
            <a:r>
              <a:rPr lang="en-US" sz="1100" dirty="0" b="1">
                <a:solidFill>
                  <a:sysClr val="windowText" lastClr="000000"/>
                </a:solidFill>
              </a:rPr>
              <a:t>Beneficiaries: </a:t>
            </a:r>
            <a:r>
              <a:rPr lang="en-US" sz="1100" dirty="0">
                <a:solidFill>
                  <a:sysClr val="windowText" lastClr="000000"/>
                </a:solidFill>
              </a:rPr>
              <a:t>receiving emergency doctors, hospital quality and audit teams.</a:t>
            </a:r>
          </a:p>
          <a:p>
            <a:pPr>
              <a:spcBef>
                <a:spcPts val="400"/>
              </a:spcBef>
            </a:pPr>
            <a:r>
              <a:rPr lang="en-US" sz="1100" dirty="0" b="1">
                <a:solidFill>
                  <a:sysClr val="windowText" lastClr="000000"/>
                </a:solidFill>
              </a:rPr>
              <a:t>Market size: </a:t>
            </a:r>
            <a:r>
              <a:rPr lang="en-US" sz="1100" dirty="0">
                <a:solidFill>
                  <a:sysClr val="windowText" lastClr="000000"/>
                </a:solidFill>
              </a:rPr>
              <a:t>~21,800 ambulances supported under the National Health Mission (2,957 ALS + 14,613 BLS + 4,259 patient transport), ~17,570 of them emergency-grade – plus private and hospital fleets. India's ambulance-services market: ~USD 1.67 bn (2024).</a:t>
            </a:r>
          </a:p>
          <a:p>
            <a:pPr>
              <a:spcBef>
                <a:spcPts val="400"/>
              </a:spcBef>
            </a:pPr>
            <a:r>
              <a:rPr lang="en-US" sz="1100" dirty="0" b="1">
                <a:solidFill>
                  <a:sysClr val="windowText" lastClr="000000"/>
                </a:solidFill>
              </a:rPr>
              <a:t>Market growth: </a:t>
            </a:r>
            <a:r>
              <a:rPr lang="en-US" sz="1100" dirty="0">
                <a:solidFill>
                  <a:sysClr val="windowText" lastClr="000000"/>
                </a:solidFill>
              </a:rPr>
              <a:t>ambulance services growing ~4.75–5.1% CAGR (2024–2030); the Ayushman Bharat Digital Mission is pushing health records toward structured, interoperable formats such as FHIR.</a:t>
            </a:r>
          </a:p>
        </p:txBody>
      </p:sp>
      <p:sp>
        <p:nvSpPr>
          <p:cNvPr id="21" name="Sources"/>
          <p:cNvSpPr txBox="1"/>
          <p:nvPr/>
        </p:nvSpPr>
        <p:spPr>
          <a:xfrm>
            <a:off x="566928" y="6291072"/>
            <a:ext cx="10479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Sources: Rajya Sabha unstarred Q.262, 5 Dec 2023 (NHM ambulances); TechSci Research via ResearchAndMarkets (USD 1.67 bn, 4.75% CAGR to 2030); Primus Partners via Business Standard (5.12% CAGR, 2024–28).</a:t>
            </a:r>
          </a:p>
        </p:txBody>
      </p:sp>
    </p:spTree>
    <p:extLst>
      <p:ext uri="{BB962C8B-B14F-4D97-AF65-F5344CB8AC3E}">
        <p14:creationId xmlns:p14="http://schemas.microsoft.com/office/powerpoint/2010/main" val="162230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C806-3C52-415C-94F6-A6497C4A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188" y="146182"/>
            <a:ext cx="10515600" cy="1325563"/>
          </a:xfrm>
        </p:spPr>
        <p:txBody>
          <a:bodyPr/>
          <a:lstStyle/>
          <a:p>
            <a:r>
              <a:rPr lang="en-IN" sz="4000" b="1" dirty="0">
                <a:latin typeface="Georgia" panose="02040502050405020303" pitchFamily="18" charset="0"/>
              </a:rPr>
              <a:t>Field-to-Record: Solution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17D58-F8CB-4874-AAE4-9F8D6C7717C6}"/>
              </a:ext>
            </a:extLst>
          </p:cNvPr>
          <p:cNvSpPr/>
          <p:nvPr/>
        </p:nvSpPr>
        <p:spPr>
          <a:xfrm>
            <a:off x="563190" y="947793"/>
            <a:ext cx="2639962" cy="453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IN" sz="1400" b="1" dirty="0"/>
              <a:t>AREAS TO BE COVERED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B14658-B191-4BF6-8F3B-37FE1F792F94}"/>
              </a:ext>
            </a:extLst>
          </p:cNvPr>
          <p:cNvSpPr/>
          <p:nvPr/>
        </p:nvSpPr>
        <p:spPr>
          <a:xfrm>
            <a:off x="563188" y="1508760"/>
            <a:ext cx="2639962" cy="2971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5113" algn="ctr"/>
            <a:r>
              <a:rPr lang="en-IN" sz="1300" b="1" dirty="0">
                <a:solidFill>
                  <a:sysClr val="windowText" lastClr="000000"/>
                </a:solidFill>
              </a:rPr>
              <a:t>SOLUTION DETAILS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437549-3334-452F-B2BA-4FC889279D45}"/>
              </a:ext>
            </a:extLst>
          </p:cNvPr>
          <p:cNvSpPr/>
          <p:nvPr/>
        </p:nvSpPr>
        <p:spPr>
          <a:xfrm>
            <a:off x="563190" y="4572000"/>
            <a:ext cx="2639962" cy="15087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5113" algn="ctr"/>
            <a:r>
              <a:rPr lang="en-US" sz="1300" b="1" dirty="0">
                <a:solidFill>
                  <a:sysClr val="windowText" lastClr="000000"/>
                </a:solidFill>
              </a:rPr>
              <a:t>FUTURE READINESS</a:t>
            </a:r>
            <a:endParaRPr lang="en-IN" sz="13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425C2B-76C5-485C-83EB-3E54B924D9F2}"/>
              </a:ext>
            </a:extLst>
          </p:cNvPr>
          <p:cNvSpPr/>
          <p:nvPr/>
        </p:nvSpPr>
        <p:spPr>
          <a:xfrm>
            <a:off x="563188" y="4572000"/>
            <a:ext cx="383459" cy="1508760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9964B-6599-4D85-A186-DD13D547E75B}"/>
              </a:ext>
            </a:extLst>
          </p:cNvPr>
          <p:cNvSpPr/>
          <p:nvPr/>
        </p:nvSpPr>
        <p:spPr>
          <a:xfrm>
            <a:off x="563190" y="1508760"/>
            <a:ext cx="383459" cy="2971800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37BA58-6531-4261-8586-FDC4CAC34370}"/>
              </a:ext>
            </a:extLst>
          </p:cNvPr>
          <p:cNvSpPr/>
          <p:nvPr/>
        </p:nvSpPr>
        <p:spPr>
          <a:xfrm>
            <a:off x="3355552" y="947793"/>
            <a:ext cx="7693742" cy="453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IN" sz="1400" b="1" dirty="0"/>
              <a:t>OUR RESPONSE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869315-BB28-4554-8D56-EFEAC637E37E}"/>
              </a:ext>
            </a:extLst>
          </p:cNvPr>
          <p:cNvSpPr/>
          <p:nvPr/>
        </p:nvSpPr>
        <p:spPr>
          <a:xfrm>
            <a:off x="3355552" y="1508760"/>
            <a:ext cx="7693742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/>
            <a:r>
              <a:rPr lang="en-US" sz="1050" dirty="0" b="1">
                <a:solidFill>
                  <a:sysClr val="windowText" lastClr="000000"/>
                </a:solidFill>
              </a:rPr>
              <a:t>Idea: </a:t>
            </a:r>
            <a:r>
              <a:rPr lang="en-US" sz="1050" dirty="0">
                <a:solidFill>
                  <a:sysClr val="windowText" lastClr="000000"/>
                </a:solidFill>
              </a:rPr>
              <a:t>Field-to-Record turns a paramedic's spoken or typed on-scene notes (English, Hindi, Hinglish) into a structured, timestamped record of drugs, doses, routes and procedures – fully offline on the ambulance device.</a:t>
            </a:r>
          </a:p>
          <a:p>
            <a:pPr>
              <a:spcBef>
                <a:spcPts val="300"/>
              </a:spcBef>
            </a:pPr>
            <a:r>
              <a:rPr lang="en-US" sz="1050" dirty="0" b="1">
                <a:solidFill>
                  <a:sysClr val="windowText" lastClr="000000"/>
                </a:solidFill>
              </a:rPr>
              <a:t>USP*: </a:t>
            </a:r>
            <a:r>
              <a:rPr lang="en-US" sz="1050" dirty="0" b="1">
                <a:solidFill>
                  <a:sysClr val="windowText" lastClr="000000"/>
                </a:solidFill>
              </a:rPr>
              <a:t>(1) 100% offline edge AI</a:t>
            </a:r>
            <a:r>
              <a:rPr lang="en-US" sz="1050" dirty="0">
                <a:solidFill>
                  <a:sysClr val="windowText" lastClr="000000"/>
                </a:solidFill>
              </a:rPr>
              <a:t> – speech recognition and the LLM run on-device; no patient data leaves it.  </a:t>
            </a:r>
            <a:r>
              <a:rPr lang="en-US" sz="1050" dirty="0" b="1">
                <a:solidFill>
                  <a:sysClr val="windowText" lastClr="000000"/>
                </a:solidFill>
              </a:rPr>
              <a:t>(2) Verified, not just generated</a:t>
            </a:r>
            <a:r>
              <a:rPr lang="en-US" sz="1050" dirty="0">
                <a:solidFill>
                  <a:sysClr val="windowText" lastClr="000000"/>
                </a:solidFill>
              </a:rPr>
              <a:t> – every item must quote the transcript, drug and route are re-checked against the spoken sentence, doses are sanity-checked, nothing is saved until the paramedic signs.  </a:t>
            </a:r>
            <a:r>
              <a:rPr lang="en-US" sz="1050" dirty="0" b="1">
                <a:solidFill>
                  <a:sysClr val="windowText" lastClr="000000"/>
                </a:solidFill>
              </a:rPr>
              <a:t>(3) Tamper-evident</a:t>
            </a:r>
            <a:r>
              <a:rPr lang="en-US" sz="1050" dirty="0">
                <a:solidFill>
                  <a:sysClr val="windowText" lastClr="000000"/>
                </a:solidFill>
              </a:rPr>
              <a:t> – SHA-256 hash-chained records expose any later edit.  </a:t>
            </a:r>
            <a:r>
              <a:rPr lang="en-US" sz="1050" dirty="0" b="1">
                <a:solidFill>
                  <a:sysClr val="windowText" lastClr="000000"/>
                </a:solidFill>
              </a:rPr>
              <a:t>(4) India-native</a:t>
            </a:r>
            <a:r>
              <a:rPr lang="en-US" sz="1050" dirty="0">
                <a:solidFill>
                  <a:sysClr val="windowText" lastClr="000000"/>
                </a:solidFill>
              </a:rPr>
              <a:t> – Hinglish, Devanagari and Indian brand names (Dolo, Ondem, Avil).</a:t>
            </a:r>
          </a:p>
          <a:p>
            <a:pPr>
              <a:spcBef>
                <a:spcPts val="300"/>
              </a:spcBef>
            </a:pPr>
            <a:r>
              <a:rPr lang="en-US" sz="1050" dirty="0" b="1">
                <a:solidFill>
                  <a:sysClr val="windowText" lastClr="000000"/>
                </a:solidFill>
              </a:rPr>
              <a:t>Key features: </a:t>
            </a:r>
            <a:r>
              <a:rPr lang="en-US" sz="1050" dirty="0">
                <a:solidFill>
                  <a:sysClr val="windowText" lastClr="000000"/>
                </a:solidFill>
              </a:rPr>
              <a:t>voice or typed capture; review screen showing the source words and warnings for each item; "10 minute pehle" resolved to an exact time; printable handover report and RxNorm-coded FHIR-lite export.</a:t>
            </a:r>
          </a:p>
          <a:p>
            <a:pPr>
              <a:spcBef>
                <a:spcPts val="300"/>
              </a:spcBef>
            </a:pPr>
            <a:r>
              <a:rPr lang="en-US" sz="1050" dirty="0" b="1">
                <a:solidFill>
                  <a:sysClr val="windowText" lastClr="000000"/>
                </a:solidFill>
              </a:rPr>
              <a:t>PoC (working): </a:t>
            </a:r>
            <a:r>
              <a:rPr lang="en-US" sz="1050" dirty="0">
                <a:solidFill>
                  <a:sysClr val="windowText" lastClr="000000"/>
                </a:solidFill>
              </a:rPr>
              <a:t>Whisper large-v3-turbo + Qwen 2.5 7B via Ollama on an RTX 4060 laptop. On 26 labelled English/Hindi/Hinglish notes: drug+dose+unit+route F1 1.00, procedure F1 0.96; ~3 s speech-to-text, ~6–9 s extraction.</a:t>
            </a:r>
          </a:p>
          <a:p>
            <a:pPr>
              <a:spcBef>
                <a:spcPts val="300"/>
              </a:spcBef>
            </a:pPr>
            <a:r>
              <a:rPr lang="en-US" sz="1050" dirty="0" b="1">
                <a:solidFill>
                  <a:sysClr val="windowText" lastClr="000000"/>
                </a:solidFill>
              </a:rPr>
              <a:t>Use-case flow (live PoC demo):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1FA658-8901-4DD9-807F-010181303D84}"/>
              </a:ext>
            </a:extLst>
          </p:cNvPr>
          <p:cNvSpPr/>
          <p:nvPr/>
        </p:nvSpPr>
        <p:spPr>
          <a:xfrm>
            <a:off x="3355552" y="4572000"/>
            <a:ext cx="7693742" cy="1508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/>
            <a:r>
              <a:rPr lang="en-US" sz="1050" dirty="0" b="1">
                <a:solidFill>
                  <a:sysClr val="windowText" lastClr="000000"/>
                </a:solidFill>
              </a:rPr>
              <a:t>Roadmap: </a:t>
            </a:r>
            <a:r>
              <a:rPr lang="en-US" sz="1050" dirty="0">
                <a:solidFill>
                  <a:sysClr val="windowText" lastClr="000000"/>
                </a:solidFill>
              </a:rPr>
              <a:t>hackathon PoC (laptop) → pilot with one EMS operator / district, validated on real paramedic voices → Android app (whisper.cpp + on-device LLM) with per-device signatures and encrypted storage → ABDM / FHIR R4 integration and hospital sync → state-wide 108 rollout.</a:t>
            </a:r>
          </a:p>
          <a:p>
            <a:pPr>
              <a:spcBef>
                <a:spcPts val="300"/>
              </a:spcBef>
            </a:pPr>
            <a:r>
              <a:rPr lang="en-US" sz="1050" dirty="0" b="1">
                <a:solidFill>
                  <a:sysClr val="windowText" lastClr="000000"/>
                </a:solidFill>
              </a:rPr>
              <a:t>Replicable: </a:t>
            </a:r>
            <a:r>
              <a:rPr lang="en-US" sz="1050" dirty="0">
                <a:solidFill>
                  <a:sysClr val="windowText" lastClr="000000"/>
                </a:solidFill>
              </a:rPr>
              <a:t>the same speak → verify → sign pipeline fits any hands-busy, audit-critical record: disaster and military medics, ICU and nursing charting, home-care visits, and industrial safety and maintenance logs.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0E6E81-909C-4C94-B037-1E925919CBCB}"/>
              </a:ext>
            </a:extLst>
          </p:cNvPr>
          <p:cNvSpPr txBox="1"/>
          <p:nvPr/>
        </p:nvSpPr>
        <p:spPr>
          <a:xfrm>
            <a:off x="826265" y="6126480"/>
            <a:ext cx="4494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1200" i="1" dirty="0"/>
              <a:t>*Unique Selling Proposition</a:t>
            </a:r>
            <a:endParaRPr lang="en-IN" sz="1200" i="1" dirty="0"/>
          </a:p>
        </p:txBody>
      </p:sp>
      <p:sp>
        <p:nvSpPr>
          <p:cNvPr id="24" name="Flow 1"/>
          <p:cNvSpPr/>
          <p:nvPr/>
        </p:nvSpPr>
        <p:spPr>
          <a:xfrm>
            <a:off x="3474720" y="3785615"/>
            <a:ext cx="1078992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00" b="1">
                <a:solidFill>
                  <a:srgbClr val="000000"/>
                </a:solidFill>
              </a:rPr>
              <a:t>Paramedic speaks on scene</a:t>
            </a:r>
          </a:p>
        </p:txBody>
      </p:sp>
      <p:sp>
        <p:nvSpPr>
          <p:cNvPr id="25" name="Flow arrow 1"/>
          <p:cNvSpPr/>
          <p:nvPr/>
        </p:nvSpPr>
        <p:spPr>
          <a:xfrm>
            <a:off x="4581144" y="3995927"/>
            <a:ext cx="137160" cy="146304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 2"/>
          <p:cNvSpPr/>
          <p:nvPr/>
        </p:nvSpPr>
        <p:spPr>
          <a:xfrm>
            <a:off x="4745736" y="3785615"/>
            <a:ext cx="1078992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00" b="1">
                <a:solidFill>
                  <a:srgbClr val="000000"/>
                </a:solidFill>
              </a:rPr>
              <a:t>Offline speech recognition</a:t>
            </a:r>
          </a:p>
        </p:txBody>
      </p:sp>
      <p:sp>
        <p:nvSpPr>
          <p:cNvPr id="27" name="Flow arrow 2"/>
          <p:cNvSpPr/>
          <p:nvPr/>
        </p:nvSpPr>
        <p:spPr>
          <a:xfrm>
            <a:off x="5852159" y="3995927"/>
            <a:ext cx="137160" cy="146304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low 3"/>
          <p:cNvSpPr/>
          <p:nvPr/>
        </p:nvSpPr>
        <p:spPr>
          <a:xfrm>
            <a:off x="6016752" y="3785615"/>
            <a:ext cx="1078992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00" b="1">
                <a:solidFill>
                  <a:srgbClr val="000000"/>
                </a:solidFill>
              </a:rPr>
              <a:t>Local LLM extracts entities</a:t>
            </a:r>
          </a:p>
        </p:txBody>
      </p:sp>
      <p:sp>
        <p:nvSpPr>
          <p:cNvPr id="29" name="Flow arrow 3"/>
          <p:cNvSpPr/>
          <p:nvPr/>
        </p:nvSpPr>
        <p:spPr>
          <a:xfrm>
            <a:off x="7123176" y="3995927"/>
            <a:ext cx="137160" cy="146304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low 4"/>
          <p:cNvSpPr/>
          <p:nvPr/>
        </p:nvSpPr>
        <p:spPr>
          <a:xfrm>
            <a:off x="7287768" y="3785615"/>
            <a:ext cx="1078992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00" b="1">
                <a:solidFill>
                  <a:srgbClr val="000000"/>
                </a:solidFill>
              </a:rPr>
              <a:t>Rules verify against transcript</a:t>
            </a:r>
          </a:p>
        </p:txBody>
      </p:sp>
      <p:sp>
        <p:nvSpPr>
          <p:cNvPr id="31" name="Flow arrow 4"/>
          <p:cNvSpPr/>
          <p:nvPr/>
        </p:nvSpPr>
        <p:spPr>
          <a:xfrm>
            <a:off x="8394192" y="3995927"/>
            <a:ext cx="137160" cy="146304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low 5"/>
          <p:cNvSpPr/>
          <p:nvPr/>
        </p:nvSpPr>
        <p:spPr>
          <a:xfrm>
            <a:off x="8558784" y="3785615"/>
            <a:ext cx="1078992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00" b="1">
                <a:solidFill>
                  <a:srgbClr val="000000"/>
                </a:solidFill>
              </a:rPr>
              <a:t>Paramedic reviews and signs</a:t>
            </a:r>
          </a:p>
        </p:txBody>
      </p:sp>
      <p:sp>
        <p:nvSpPr>
          <p:cNvPr id="33" name="Flow arrow 5"/>
          <p:cNvSpPr/>
          <p:nvPr/>
        </p:nvSpPr>
        <p:spPr>
          <a:xfrm>
            <a:off x="9665207" y="3995927"/>
            <a:ext cx="137160" cy="146304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low 6"/>
          <p:cNvSpPr/>
          <p:nvPr/>
        </p:nvSpPr>
        <p:spPr>
          <a:xfrm>
            <a:off x="9829800" y="3785615"/>
            <a:ext cx="1078992" cy="56692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900" b="1">
                <a:solidFill>
                  <a:srgbClr val="FFFFFF"/>
                </a:solidFill>
              </a:rPr>
              <a:t>Hash-chained record, report, FHIR</a:t>
            </a:r>
          </a:p>
        </p:txBody>
      </p:sp>
    </p:spTree>
    <p:extLst>
      <p:ext uri="{BB962C8B-B14F-4D97-AF65-F5344CB8AC3E}">
        <p14:creationId xmlns:p14="http://schemas.microsoft.com/office/powerpoint/2010/main" val="1622309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215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Georgia</vt:lpstr>
      <vt:lpstr>Office Theme</vt:lpstr>
      <vt:lpstr>Solution Presentation Template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Presentation Template  </dc:title>
  <dc:creator>Bhavana Pappireddy</dc:creator>
  <cp:lastModifiedBy>Bhavana Pappireddy</cp:lastModifiedBy>
  <cp:revision>1</cp:revision>
  <dcterms:created xsi:type="dcterms:W3CDTF">2025-02-04T11:06:39Z</dcterms:created>
  <dcterms:modified xsi:type="dcterms:W3CDTF">2025-02-04T11:11:05Z</dcterms:modified>
</cp:coreProperties>
</file>