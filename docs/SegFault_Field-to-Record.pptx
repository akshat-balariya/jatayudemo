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A6CE44-E9B3-4AB7-A23F-E28DE57863C9}" v="2" dt="2025-02-04T11:07:01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68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ana Pappireddy" userId="a06b5419-4d62-468c-bf51-8a7462837c92" providerId="ADAL" clId="{8CA6CE44-E9B3-4AB7-A23F-E28DE57863C9}"/>
    <pc:docChg chg="undo custSel addSld delSld modSld">
      <pc:chgData name="Bhavana Pappireddy" userId="a06b5419-4d62-468c-bf51-8a7462837c92" providerId="ADAL" clId="{8CA6CE44-E9B3-4AB7-A23F-E28DE57863C9}" dt="2025-02-04T11:11:03.387" v="28" actId="207"/>
      <pc:docMkLst>
        <pc:docMk/>
      </pc:docMkLst>
      <pc:sldChg chg="add del">
        <pc:chgData name="Bhavana Pappireddy" userId="a06b5419-4d62-468c-bf51-8a7462837c92" providerId="ADAL" clId="{8CA6CE44-E9B3-4AB7-A23F-E28DE57863C9}" dt="2025-02-04T11:07:13.505" v="2" actId="2696"/>
        <pc:sldMkLst>
          <pc:docMk/>
          <pc:sldMk cId="2082165336" sldId="3163"/>
        </pc:sldMkLst>
      </pc:sldChg>
      <pc:sldChg chg="modSp add mod">
        <pc:chgData name="Bhavana Pappireddy" userId="a06b5419-4d62-468c-bf51-8a7462837c92" providerId="ADAL" clId="{8CA6CE44-E9B3-4AB7-A23F-E28DE57863C9}" dt="2025-02-04T11:11:03.387" v="28" actId="207"/>
        <pc:sldMkLst>
          <pc:docMk/>
          <pc:sldMk cId="1622309640" sldId="3164"/>
        </pc:sldMkLst>
        <pc:spChg chg="mod">
          <ac:chgData name="Bhavana Pappireddy" userId="a06b5419-4d62-468c-bf51-8a7462837c92" providerId="ADAL" clId="{8CA6CE44-E9B3-4AB7-A23F-E28DE57863C9}" dt="2025-02-04T11:10:08.015" v="25" actId="2711"/>
          <ac:spMkLst>
            <pc:docMk/>
            <pc:sldMk cId="1622309640" sldId="3164"/>
            <ac:spMk id="2" creationId="{14E6C806-3C52-415C-94F6-A6497C4A9808}"/>
          </ac:spMkLst>
        </pc:spChg>
        <pc:spChg chg="mod">
          <ac:chgData name="Bhavana Pappireddy" userId="a06b5419-4d62-468c-bf51-8a7462837c92" providerId="ADAL" clId="{8CA6CE44-E9B3-4AB7-A23F-E28DE57863C9}" dt="2025-02-04T11:11:03.387" v="28" actId="207"/>
          <ac:spMkLst>
            <pc:docMk/>
            <pc:sldMk cId="1622309640" sldId="3164"/>
            <ac:spMk id="4" creationId="{30D17D58-F8CB-4874-AAE4-9F8D6C7717C6}"/>
          </ac:spMkLst>
        </pc:spChg>
        <pc:spChg chg="mod">
          <ac:chgData name="Bhavana Pappireddy" userId="a06b5419-4d62-468c-bf51-8a7462837c92" providerId="ADAL" clId="{8CA6CE44-E9B3-4AB7-A23F-E28DE57863C9}" dt="2025-02-04T11:08:13.589" v="19" actId="20577"/>
          <ac:spMkLst>
            <pc:docMk/>
            <pc:sldMk cId="1622309640" sldId="3164"/>
            <ac:spMk id="5" creationId="{9BAF6DD4-C305-4231-9595-AA4B146C3186}"/>
          </ac:spMkLst>
        </pc:spChg>
        <pc:spChg chg="mod">
          <ac:chgData name="Bhavana Pappireddy" userId="a06b5419-4d62-468c-bf51-8a7462837c92" providerId="ADAL" clId="{8CA6CE44-E9B3-4AB7-A23F-E28DE57863C9}" dt="2025-02-04T11:08:35.562" v="21" actId="403"/>
          <ac:spMkLst>
            <pc:docMk/>
            <pc:sldMk cId="1622309640" sldId="3164"/>
            <ac:spMk id="14" creationId="{3CC4ABB1-0722-A317-53CE-6D2A8082448E}"/>
          </ac:spMkLst>
        </pc:spChg>
        <pc:spChg chg="mod">
          <ac:chgData name="Bhavana Pappireddy" userId="a06b5419-4d62-468c-bf51-8a7462837c92" providerId="ADAL" clId="{8CA6CE44-E9B3-4AB7-A23F-E28DE57863C9}" dt="2025-02-04T11:10:44.574" v="26" actId="207"/>
          <ac:spMkLst>
            <pc:docMk/>
            <pc:sldMk cId="1622309640" sldId="3164"/>
            <ac:spMk id="15" creationId="{E137BA58-6531-4261-8586-FDC4CAC3437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949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Field-to-Record turns what a first responder says on scene into the first link of the clinical audit chain: a structured, timestamped record of medications and procedures that the responder confirms and signs. Everything runs on a laptop with no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answers the template’s four areas in one view. The following slides go through each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Elevator pitch: when an ambulance crew is saving a life, nobody is writing anything down. That note is the first link in the patient’s record. We let the paramedic just speak, and produce a record they can trust and 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Fill TAM/SAM/SOM with sourced numbers (for example the number of 108/112 ambulances and private fleets) before submitting. Do not quote figures without a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language model only proposes. Deterministic rules then normalise names to codes, turn spoken times into timestamps and check every item against the transcript before a human 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Lead with the trust row: a real test showed the LLM mislabelling Dolo 650 as ondansetron; the rules now re-read the source sentence and correct it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Use-case diagram: the paramedic dictates, reviews and signs; the ED doctor receives the report and structured data; the audit team verifies the chain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with Wi-Fi off. Line to say: “Pachaas saal ke aadmi, kamar mein bahut dard, seedhi se gir gaye. Das minute pehle Dolo 650 mg muh se diya. Right hand mein bees gauge cannula lagaya aur Ondem 4 mg IV diya. BP 130 by 85, pulse 102.” Medication F1 went from 0.78 on the first run to 1.00 after adding the grounding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 1 is what we demo today. Phase 2 closes the gaps judges will ask about: Android, offline handover by QR code, and per-device signatures for authenticity.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Replication: any setting where people act first and document later, often offline, and where the record must be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Likely questions: how hallucinations are handled (USP slide), offline operation, sharing with hospitals without internet (QR handover, Phase 2), and Android.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1CAD3-EF6D-D7E7-C205-BDC0F7C98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96B75-50DF-95B0-57EA-196A21952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8F0CF-F86D-A6C2-92FE-9C55E287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115C5-6979-80DE-852B-06E9EAF1E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A3458-743A-6C30-699C-53F8073FC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43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9C778-DFDF-15E5-6089-1031837AC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C20E5-703C-6ECC-4556-C7CC84EF6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45A0F-3C5F-2448-8D09-B5CA6DCAB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341D4-6755-0060-2E12-018B8D91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59796-0511-A74C-6363-74C46581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473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5977-9BFA-00A3-C1A7-97424271B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812E6-7D42-10D5-847B-E2A8B76EF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0F732-B928-EBE7-F376-3E177D640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57B54-4558-B6DE-3F68-7DE20471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7F58F-99CC-1D58-C073-5204339D7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254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6FF5-9418-9697-76CA-877A419E4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AAAC5-77C6-3E3E-BA64-D78FE8D72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DC54D-6B45-3531-A3A5-16BCD21FE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8D01E-530E-9BAC-EA65-101C540E7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F1A18-D540-5CA0-6468-B79A74708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CBA6F-B42B-DFA2-8FAF-5E48384A5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713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06606-F7CC-C19C-B158-20705A3C4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6F380-B561-506C-74CE-9EE47E49A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2EC1-2AA8-E757-E4D1-4B095110D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574FC2-5F31-C1D1-F497-B239BE41C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A08837-B12F-9612-78F9-F75D44410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2C030-7B6E-09C1-9F81-1A4AF4C2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8B7F6-9A90-2528-A4EC-844B92422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FD18F9-61F6-AFA1-6D4D-D3CFB6DBA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405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E1DD4-AC12-5585-9014-5BA16F59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EEE9B4-46DB-C834-C8C9-E1C2292CA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3B7EA-CC63-CE79-7098-BBB6DB47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3C7CD-3F2B-E174-2FA2-F2FDBB44D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194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EB683-781B-6FF4-FB9B-CE1121E81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EA310B-D72E-118A-E223-BE91D2D9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3C270-A971-ED0F-1A9F-CB9A4D3B2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94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9FAE6-49A7-1DC3-B74C-323B7E932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82AC6-559C-F041-7CD9-5BDE2557D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FAD81-F20A-41C5-63C9-ED6E463E2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04291-AFF0-14FC-8812-EC5126C4A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F4E98-B611-C538-6CA6-77423CB55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9B2AB-8346-B2A0-7B80-02E562199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284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7945-9DFC-0E4C-73FE-EB335640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709E1C-4112-B1A3-C81E-8EBF57154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8ED01-3D7D-9ACD-5341-607FD1B672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B452D-3ACA-23A7-82E1-16CDB03C2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FF500-598E-A94C-868A-219DA3F9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D3BBE-6432-F8F0-48EC-310F75ADB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75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2471-DF4B-7914-8483-FA1DE6BD9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4842B-0F75-A0AD-8A6D-D00D4E149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01390-E6BB-9BD2-0889-202D627B2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726DE-6B02-8F5E-2188-FB22C0AF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AB68E-18A6-C55E-F32D-9CC72787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25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A9DC8E-8631-DF71-27C4-55F26692F7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FD684-C9B5-0B85-63B6-EE7D6D83A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B5964-8AB3-70D8-4903-09700DAB3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3ED-2FCA-4A4E-8E2C-B560D173540E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ED4AB-834F-E45D-AA23-D26C99D87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E7500-B1D0-BF32-0863-8D067C99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373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36CB0-8D4B-8903-0842-BAF35AA22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81DBD-B89E-3582-CBB9-B747B8D7C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C0586-7C3A-2C3F-E765-4280A0DB27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D43ED-2FCA-4A4E-8E2C-B560D173540E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8BCFB-3D41-4A65-C96E-C2B1152042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14A80-3E15-6AC8-FDCE-1B21A9594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1890C-B89D-4459-AF1E-77398C163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56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1234440"/>
            <a:ext cx="3566160" cy="41148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TECH &amp; CME  ·  USE CASE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828800"/>
            <a:ext cx="10515600" cy="941796"/>
          </a:xfrm>
          <a:prstGeom prst="rect">
            <a:avLst/>
          </a:prstGeom>
          <a:noFill/>
        </p:spPr>
        <p:txBody>
          <a:bodyPr wrap="square" lIns="45720" tIns="54864" rIns="45720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IN" sz="5400" b="1" i="0" dirty="0">
                <a:solidFill>
                  <a:srgbClr val="1A1A1A"/>
                </a:solidFill>
                <a:latin typeface="Georgia"/>
              </a:rPr>
              <a:t>Field to Record</a:t>
            </a:r>
            <a:endParaRPr sz="5400" b="1" i="0" dirty="0">
              <a:solidFill>
                <a:srgbClr val="1A1A1A"/>
              </a:solidFill>
              <a:latin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2788920"/>
            <a:ext cx="10515600" cy="548640"/>
          </a:xfrm>
          <a:prstGeom prst="rect">
            <a:avLst/>
          </a:prstGeom>
          <a:noFill/>
        </p:spPr>
        <p:txBody>
          <a:bodyPr wrap="square" lIns="45720" tIns="54864" rIns="45720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 i="0">
                <a:solidFill>
                  <a:srgbClr val="2F5597"/>
                </a:solidFill>
                <a:latin typeface="Georgia"/>
              </a:rPr>
              <a:t>Voice-to-Structured Clinical Note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383280"/>
            <a:ext cx="10515600" cy="457200"/>
          </a:xfrm>
          <a:prstGeom prst="rect">
            <a:avLst/>
          </a:prstGeom>
          <a:noFill/>
        </p:spPr>
        <p:txBody>
          <a:bodyPr wrap="square" lIns="45720" tIns="54864" rIns="45720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Speak the care you gave. Get a structured, timestamped, signed record — fully offline.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343400"/>
            <a:ext cx="1188720" cy="685800"/>
          </a:xfrm>
          <a:prstGeom prst="rect">
            <a:avLst/>
          </a:prstGeom>
          <a:solidFill>
            <a:srgbClr val="E7E6E6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595959"/>
                </a:solidFill>
                <a:latin typeface="Arial Black"/>
              </a:rPr>
              <a:t>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5648" y="4343400"/>
            <a:ext cx="2743200" cy="685800"/>
          </a:xfrm>
          <a:prstGeom prst="rect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SEGFAULT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5166360"/>
            <a:ext cx="7315200" cy="357021"/>
          </a:xfrm>
          <a:prstGeom prst="rect">
            <a:avLst/>
          </a:prstGeom>
          <a:noFill/>
        </p:spPr>
        <p:txBody>
          <a:bodyPr wrap="square" lIns="45720" tIns="54864" rIns="45720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IN" sz="1600" b="0" i="0" dirty="0">
                <a:solidFill>
                  <a:srgbClr val="595959"/>
                </a:solidFill>
                <a:latin typeface="Calibri"/>
              </a:rPr>
              <a:t>Akshat Balariya| Nikhil Bendale | Gaurav Bansod</a:t>
            </a:r>
            <a:endParaRPr sz="1600" b="0" i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5897880"/>
            <a:ext cx="6068872" cy="38404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English · हिन्दी · Hinglish  —  100% on-device, no internet needed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256032"/>
            <a:ext cx="11055096" cy="731520"/>
          </a:xfrm>
        </p:spPr>
        <p:txBody>
          <a:bodyPr wrap="square" lIns="45720" tIns="54864" rIns="45720" bIns="54864" anchor="ctr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Our Solution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642616" cy="41148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3355848" y="1051560"/>
            <a:ext cx="8266176" cy="41148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OUR ANSWER</a:t>
            </a:r>
          </a:p>
        </p:txBody>
      </p:sp>
      <p:sp>
        <p:nvSpPr>
          <p:cNvPr id="5" name="Section 1 number"/>
          <p:cNvSpPr/>
          <p:nvPr/>
        </p:nvSpPr>
        <p:spPr>
          <a:xfrm>
            <a:off x="566928" y="1554480"/>
            <a:ext cx="384048" cy="868680"/>
          </a:xfrm>
          <a:prstGeom prst="rect">
            <a:avLst/>
          </a:prstGeom>
          <a:solidFill>
            <a:srgbClr val="E7E6E6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95959"/>
                </a:solidFill>
                <a:latin typeface="Arial Black"/>
              </a:rPr>
              <a:t>1</a:t>
            </a:r>
          </a:p>
        </p:txBody>
      </p:sp>
      <p:sp>
        <p:nvSpPr>
          <p:cNvPr id="6" name="Section 1 label"/>
          <p:cNvSpPr/>
          <p:nvPr/>
        </p:nvSpPr>
        <p:spPr>
          <a:xfrm>
            <a:off x="950976" y="1554480"/>
            <a:ext cx="2258568" cy="868680"/>
          </a:xfrm>
          <a:prstGeom prst="rect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BUSINESS NEED/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5848" y="1554480"/>
            <a:ext cx="8266176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Paramedics document drugs and procedures </a:t>
            </a:r>
            <a:r>
              <a:rPr sz="1400" b="1" i="0">
                <a:solidFill>
                  <a:srgbClr val="262626"/>
                </a:solidFill>
                <a:latin typeface="Calibri"/>
              </a:rPr>
              <a:t>after the fact, from memory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 — so the first link of the patient record is the weakest. We turn their speech into a structured, timestamped, signed record on the spot.</a:t>
            </a:r>
          </a:p>
        </p:txBody>
      </p:sp>
      <p:sp>
        <p:nvSpPr>
          <p:cNvPr id="8" name="Section 2 number"/>
          <p:cNvSpPr/>
          <p:nvPr/>
        </p:nvSpPr>
        <p:spPr>
          <a:xfrm>
            <a:off x="566928" y="2514600"/>
            <a:ext cx="384048" cy="868680"/>
          </a:xfrm>
          <a:prstGeom prst="rect">
            <a:avLst/>
          </a:prstGeom>
          <a:solidFill>
            <a:srgbClr val="E7E6E6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95959"/>
                </a:solidFill>
                <a:latin typeface="Arial Black"/>
              </a:rPr>
              <a:t>2</a:t>
            </a:r>
          </a:p>
        </p:txBody>
      </p:sp>
      <p:sp>
        <p:nvSpPr>
          <p:cNvPr id="9" name="Section 2 label"/>
          <p:cNvSpPr/>
          <p:nvPr/>
        </p:nvSpPr>
        <p:spPr>
          <a:xfrm>
            <a:off x="950976" y="2514600"/>
            <a:ext cx="2258568" cy="868680"/>
          </a:xfrm>
          <a:prstGeom prst="rect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TARGET SEGMENT/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2514600"/>
            <a:ext cx="8266176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62626"/>
                </a:solidFill>
                <a:latin typeface="Calibri"/>
              </a:rPr>
              <a:t>Emergency medical services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 (108/112 and private ambulances), the hospital emergency departments they hand over to, and disaster-response and field medics.</a:t>
            </a:r>
          </a:p>
        </p:txBody>
      </p:sp>
      <p:sp>
        <p:nvSpPr>
          <p:cNvPr id="11" name="Section 3 number"/>
          <p:cNvSpPr/>
          <p:nvPr/>
        </p:nvSpPr>
        <p:spPr>
          <a:xfrm>
            <a:off x="566928" y="4023360"/>
            <a:ext cx="384048" cy="868680"/>
          </a:xfrm>
          <a:prstGeom prst="rect">
            <a:avLst/>
          </a:prstGeom>
          <a:solidFill>
            <a:srgbClr val="E7E6E6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95959"/>
                </a:solidFill>
                <a:latin typeface="Arial Black"/>
              </a:rPr>
              <a:t>3</a:t>
            </a:r>
          </a:p>
        </p:txBody>
      </p:sp>
      <p:sp>
        <p:nvSpPr>
          <p:cNvPr id="12" name="Section 3 label"/>
          <p:cNvSpPr/>
          <p:nvPr/>
        </p:nvSpPr>
        <p:spPr>
          <a:xfrm>
            <a:off x="950976" y="4023360"/>
            <a:ext cx="2258568" cy="868680"/>
          </a:xfrm>
          <a:prstGeom prst="rect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SOLUTION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4023360"/>
            <a:ext cx="8266176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62626"/>
                </a:solidFill>
                <a:latin typeface="Calibri"/>
              </a:rPr>
              <a:t>Offline voice → structured record: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on-device speech-to-text and a local LLM, verified by rules against the paramedic’s own words, reviewed and signed by the responder, stored in a tamper-evident chain, exported as a report and FHIR-lite.</a:t>
            </a:r>
          </a:p>
        </p:txBody>
      </p:sp>
      <p:sp>
        <p:nvSpPr>
          <p:cNvPr id="14" name="Section 4 number"/>
          <p:cNvSpPr/>
          <p:nvPr/>
        </p:nvSpPr>
        <p:spPr>
          <a:xfrm>
            <a:off x="566928" y="4983480"/>
            <a:ext cx="384048" cy="868680"/>
          </a:xfrm>
          <a:prstGeom prst="rect">
            <a:avLst/>
          </a:prstGeom>
          <a:solidFill>
            <a:srgbClr val="E7E6E6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95959"/>
                </a:solidFill>
                <a:latin typeface="Arial Black"/>
              </a:rPr>
              <a:t>4</a:t>
            </a:r>
          </a:p>
        </p:txBody>
      </p:sp>
      <p:sp>
        <p:nvSpPr>
          <p:cNvPr id="15" name="Section 4 label"/>
          <p:cNvSpPr/>
          <p:nvPr/>
        </p:nvSpPr>
        <p:spPr>
          <a:xfrm>
            <a:off x="950976" y="4983480"/>
            <a:ext cx="2258568" cy="868680"/>
          </a:xfrm>
          <a:prstGeom prst="rect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FUTURE READINESS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5848" y="4983480"/>
            <a:ext cx="8266176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62626"/>
                </a:solidFill>
                <a:latin typeface="Calibri"/>
              </a:rPr>
              <a:t>Android app, QR handover, device signatures, ABDM-aligned FHIR.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The same engine fits any field documentation: disaster response, home care, industrial safety.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79904" y="3502152"/>
            <a:ext cx="8229142" cy="38404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USP*: offline · Hinglish-native · AI checked against the paramedic’s words · tamper-evident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5897880"/>
            <a:ext cx="4572000" cy="32004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262626"/>
                </a:solidFill>
                <a:latin typeface="Calibri"/>
              </a:rPr>
              <a:t>*Unique Selling Proposition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256032"/>
            <a:ext cx="11055096" cy="731520"/>
          </a:xfrm>
        </p:spPr>
        <p:txBody>
          <a:bodyPr wrap="square" lIns="45720" tIns="54864" rIns="45720" bIns="54864" anchor="ctr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Business Need &amp; Opportunity</a:t>
            </a:r>
          </a:p>
        </p:txBody>
      </p:sp>
      <p:sp>
        <p:nvSpPr>
          <p:cNvPr id="3" name="Section 1 number"/>
          <p:cNvSpPr/>
          <p:nvPr/>
        </p:nvSpPr>
        <p:spPr>
          <a:xfrm>
            <a:off x="566928" y="1097280"/>
            <a:ext cx="384048" cy="822960"/>
          </a:xfrm>
          <a:prstGeom prst="rect">
            <a:avLst/>
          </a:prstGeom>
          <a:solidFill>
            <a:srgbClr val="E7E6E6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95959"/>
                </a:solidFill>
                <a:latin typeface="Arial Black"/>
              </a:rPr>
              <a:t>1</a:t>
            </a:r>
          </a:p>
        </p:txBody>
      </p:sp>
      <p:sp>
        <p:nvSpPr>
          <p:cNvPr id="4" name="Section 1 label"/>
          <p:cNvSpPr/>
          <p:nvPr/>
        </p:nvSpPr>
        <p:spPr>
          <a:xfrm>
            <a:off x="950976" y="1097280"/>
            <a:ext cx="2258568" cy="822960"/>
          </a:xfrm>
          <a:prstGeom prst="rect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BUSINESS NEED/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03120"/>
            <a:ext cx="2642616" cy="402336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54864" rIns="201168" bIns="54864" rtlCol="0" anchor="ctr"/>
          <a:lstStyle/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FFFFFF"/>
                </a:solidFill>
                <a:latin typeface="Georgia"/>
              </a:rPr>
              <a:t>“On scene, the record comes last.”</a:t>
            </a:r>
          </a:p>
          <a:p>
            <a:pPr algn="l">
              <a:spcAft>
                <a:spcPts val="600"/>
              </a:spcAft>
            </a:pPr>
            <a:endParaRPr sz="2200" b="0" i="1">
              <a:solidFill>
                <a:srgbClr val="FFFFFF"/>
              </a:solidFill>
              <a:latin typeface="Georgia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first link in the clinical audit chain is the weakest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5848" y="1097280"/>
            <a:ext cx="4041648" cy="2423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500"/>
              </a:spcAft>
            </a:pPr>
            <a:r>
              <a:rPr sz="2100" b="1" i="0">
                <a:solidFill>
                  <a:srgbClr val="2F5597"/>
                </a:solidFill>
                <a:latin typeface="Calibri"/>
              </a:rPr>
              <a:t>The problem</a:t>
            </a:r>
          </a:p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Paramedics give drugs and perform procedures under pressure. The note is written later — from memory, often on paper.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0376" y="1097280"/>
            <a:ext cx="4041648" cy="2423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500"/>
              </a:spcAft>
            </a:pPr>
            <a:r>
              <a:rPr sz="2100" b="1" i="0">
                <a:solidFill>
                  <a:srgbClr val="2F5597"/>
                </a:solidFill>
                <a:latin typeface="Calibri"/>
              </a:rPr>
              <a:t>Unmet need</a:t>
            </a:r>
          </a:p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Record exactly what was given — drug, dose, route, time — without stopping care, in the language crews actually speak, with no network.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5848" y="3703320"/>
            <a:ext cx="4041648" cy="2423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500"/>
              </a:spcAft>
            </a:pPr>
            <a:r>
              <a:rPr sz="2100" b="1" i="0">
                <a:solidFill>
                  <a:srgbClr val="2F5597"/>
                </a:solidFill>
                <a:latin typeface="Calibri"/>
              </a:rPr>
              <a:t>Why it matters</a:t>
            </a:r>
          </a:p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Errors here carry forward: doses repeated or missed at handover, weak medico-legal records, and no proof the note wasn’t changed later.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0376" y="3703320"/>
            <a:ext cx="4041648" cy="2423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500"/>
              </a:spcAft>
            </a:pPr>
            <a:r>
              <a:rPr sz="2100" b="1" i="0">
                <a:solidFill>
                  <a:srgbClr val="2F5597"/>
                </a:solidFill>
                <a:latin typeface="Calibri"/>
              </a:rPr>
              <a:t>Value we create</a:t>
            </a:r>
          </a:p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Hands-free documentation, an accurate timestamped handover, a tamper-evident audit trail, and structured data ready for hospital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256032"/>
            <a:ext cx="11055096" cy="731520"/>
          </a:xfrm>
        </p:spPr>
        <p:txBody>
          <a:bodyPr wrap="square" lIns="45720" tIns="54864" rIns="45720" bIns="54864" anchor="ctr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Target Segment &amp; Market</a:t>
            </a:r>
          </a:p>
        </p:txBody>
      </p:sp>
      <p:sp>
        <p:nvSpPr>
          <p:cNvPr id="3" name="Section 2 number"/>
          <p:cNvSpPr/>
          <p:nvPr/>
        </p:nvSpPr>
        <p:spPr>
          <a:xfrm>
            <a:off x="566928" y="1097280"/>
            <a:ext cx="384048" cy="822960"/>
          </a:xfrm>
          <a:prstGeom prst="rect">
            <a:avLst/>
          </a:prstGeom>
          <a:solidFill>
            <a:srgbClr val="E7E6E6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95959"/>
                </a:solidFill>
                <a:latin typeface="Arial Black"/>
              </a:rPr>
              <a:t>2</a:t>
            </a:r>
          </a:p>
        </p:txBody>
      </p:sp>
      <p:sp>
        <p:nvSpPr>
          <p:cNvPr id="4" name="Section 2 label"/>
          <p:cNvSpPr/>
          <p:nvPr/>
        </p:nvSpPr>
        <p:spPr>
          <a:xfrm>
            <a:off x="950976" y="1097280"/>
            <a:ext cx="2258568" cy="822960"/>
          </a:xfrm>
          <a:prstGeom prst="rect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TARGET SEGMENT/ MARKET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03120"/>
            <a:ext cx="2642616" cy="39776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2F5597"/>
                </a:solidFill>
                <a:latin typeface="Calibri"/>
              </a:rPr>
              <a:t>Day-to-day user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Paramedic / EMT on an ambulance.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Hands busy, speaks a mix of Hindi and English, works where the signal drops.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Needs a record without stopping care.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5848" y="1097280"/>
            <a:ext cx="8266176" cy="41148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WHO WE SERVE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5848" y="1600200"/>
            <a:ext cx="2633472" cy="18745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497B0"/>
                </a:solidFill>
                <a:latin typeface="Calibri"/>
              </a:rPr>
              <a:t>PRIMARY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F5597"/>
                </a:solidFill>
                <a:latin typeface="Calibri"/>
              </a:rPr>
              <a:t>Emergency medical services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State 108/112 ambulance networks and private ambulance operators.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600200"/>
            <a:ext cx="2633472" cy="18745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497B0"/>
                </a:solidFill>
                <a:latin typeface="Calibri"/>
              </a:rPr>
              <a:t>SECONDARY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F5597"/>
                </a:solidFill>
                <a:latin typeface="Calibri"/>
              </a:rPr>
              <a:t>Hospital emergency departments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Receive a clean, structured handover and an auditable record.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88552" y="1600200"/>
            <a:ext cx="2633472" cy="18745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497B0"/>
                </a:solidFill>
                <a:latin typeface="Calibri"/>
              </a:rPr>
              <a:t>ADJACENT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F5597"/>
                </a:solidFill>
                <a:latin typeface="Calibri"/>
              </a:rPr>
              <a:t>Field &amp; disaster medics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NDRF/SDRF teams, army medics, event and rural health teams.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3657600"/>
            <a:ext cx="8266176" cy="41148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MARKET SIZE &amp; 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4160520"/>
            <a:ext cx="2633472" cy="109728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200"/>
              </a:spcAft>
            </a:pPr>
            <a:r>
              <a:rPr sz="1600" b="1" i="0" dirty="0">
                <a:solidFill>
                  <a:srgbClr val="2F5597"/>
                </a:solidFill>
                <a:latin typeface="Calibri"/>
              </a:rPr>
              <a:t>TAM</a:t>
            </a:r>
            <a:r>
              <a:rPr lang="en-IN" sz="1600" b="1" i="0" dirty="0">
                <a:solidFill>
                  <a:srgbClr val="2F5597"/>
                </a:solidFill>
                <a:latin typeface="Calibri"/>
              </a:rPr>
              <a:t>:</a:t>
            </a:r>
          </a:p>
          <a:p>
            <a:pPr algn="l">
              <a:spcAft>
                <a:spcPts val="200"/>
              </a:spcAft>
            </a:pPr>
            <a:r>
              <a:rPr lang="en-IN" sz="1600" b="1" i="0" dirty="0">
                <a:solidFill>
                  <a:srgbClr val="2F5597"/>
                </a:solidFill>
                <a:latin typeface="Calibri"/>
              </a:rPr>
              <a:t> </a:t>
            </a:r>
            <a:r>
              <a:rPr sz="1300" b="0" i="0" dirty="0">
                <a:solidFill>
                  <a:srgbClr val="262626"/>
                </a:solidFill>
                <a:latin typeface="Calibri"/>
              </a:rPr>
              <a:t>All ambulances and EMS crews in India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4160520"/>
            <a:ext cx="2633472" cy="109728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200"/>
              </a:spcAft>
            </a:pPr>
            <a:r>
              <a:rPr sz="1600" b="1" i="0" dirty="0">
                <a:solidFill>
                  <a:srgbClr val="2F5597"/>
                </a:solidFill>
                <a:latin typeface="Calibri"/>
              </a:rPr>
              <a:t>SAM </a:t>
            </a:r>
            <a:r>
              <a:rPr lang="en-IN" sz="1600" b="1" i="0" dirty="0">
                <a:solidFill>
                  <a:srgbClr val="2F5597"/>
                </a:solidFill>
                <a:latin typeface="Calibri"/>
              </a:rPr>
              <a:t>:</a:t>
            </a:r>
            <a:endParaRPr sz="2200" b="1" i="0" dirty="0">
              <a:solidFill>
                <a:srgbClr val="1A1A1A"/>
              </a:solidFill>
              <a:latin typeface="Georgia"/>
            </a:endParaRPr>
          </a:p>
          <a:p>
            <a:pPr algn="l">
              <a:spcAft>
                <a:spcPts val="200"/>
              </a:spcAft>
            </a:pPr>
            <a:r>
              <a:rPr sz="1300" b="0" i="0" dirty="0">
                <a:solidFill>
                  <a:srgbClr val="262626"/>
                </a:solidFill>
                <a:latin typeface="Calibri"/>
              </a:rPr>
              <a:t>108/112 and </a:t>
            </a:r>
            <a:r>
              <a:rPr sz="1300" b="0" i="0" dirty="0" err="1">
                <a:solidFill>
                  <a:srgbClr val="262626"/>
                </a:solidFill>
                <a:latin typeface="Calibri"/>
              </a:rPr>
              <a:t>organised</a:t>
            </a:r>
            <a:r>
              <a:rPr sz="1300" b="0" i="0" dirty="0">
                <a:solidFill>
                  <a:srgbClr val="262626"/>
                </a:solidFill>
                <a:latin typeface="Calibri"/>
              </a:rPr>
              <a:t> private fleets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88552" y="4160520"/>
            <a:ext cx="2633472" cy="109728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200"/>
              </a:spcAft>
            </a:pPr>
            <a:r>
              <a:rPr sz="1600" b="1" i="0" dirty="0">
                <a:solidFill>
                  <a:srgbClr val="2F5597"/>
                </a:solidFill>
                <a:latin typeface="Calibri"/>
              </a:rPr>
              <a:t>SOM</a:t>
            </a:r>
            <a:r>
              <a:rPr lang="en-IN" sz="1600" b="1" i="0" dirty="0">
                <a:solidFill>
                  <a:srgbClr val="2F5597"/>
                </a:solidFill>
                <a:latin typeface="Calibri"/>
              </a:rPr>
              <a:t>:</a:t>
            </a:r>
            <a:endParaRPr sz="2200" b="1" i="0" dirty="0">
              <a:solidFill>
                <a:srgbClr val="1A1A1A"/>
              </a:solidFill>
              <a:latin typeface="Georgia"/>
            </a:endParaRPr>
          </a:p>
          <a:p>
            <a:pPr algn="l">
              <a:spcAft>
                <a:spcPts val="200"/>
              </a:spcAft>
            </a:pPr>
            <a:r>
              <a:rPr sz="1300" b="0" i="0" dirty="0">
                <a:solidFill>
                  <a:srgbClr val="262626"/>
                </a:solidFill>
                <a:latin typeface="Calibri"/>
              </a:rPr>
              <a:t>First pilot operators and partner hospitals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5394960"/>
            <a:ext cx="8266176" cy="685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62626"/>
                </a:solidFill>
                <a:latin typeface="Calibri"/>
              </a:rPr>
              <a:t>Growth drivers: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the Ayushman Bharat Digital Mission push for interoperable digital health records, growing public ambulance networks, and the medico-legal need for verifiable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256032"/>
            <a:ext cx="11055096" cy="731520"/>
          </a:xfrm>
        </p:spPr>
        <p:txBody>
          <a:bodyPr wrap="square" lIns="45720" tIns="54864" rIns="45720" bIns="54864" anchor="ctr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Solution: How It Works</a:t>
            </a:r>
          </a:p>
        </p:txBody>
      </p:sp>
      <p:sp>
        <p:nvSpPr>
          <p:cNvPr id="3" name="Section 3 number"/>
          <p:cNvSpPr/>
          <p:nvPr/>
        </p:nvSpPr>
        <p:spPr>
          <a:xfrm>
            <a:off x="566928" y="1097280"/>
            <a:ext cx="384048" cy="822960"/>
          </a:xfrm>
          <a:prstGeom prst="rect">
            <a:avLst/>
          </a:prstGeom>
          <a:solidFill>
            <a:srgbClr val="E7E6E6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95959"/>
                </a:solidFill>
                <a:latin typeface="Arial Black"/>
              </a:rPr>
              <a:t>3</a:t>
            </a:r>
          </a:p>
        </p:txBody>
      </p:sp>
      <p:sp>
        <p:nvSpPr>
          <p:cNvPr id="4" name="Section 3 label"/>
          <p:cNvSpPr/>
          <p:nvPr/>
        </p:nvSpPr>
        <p:spPr>
          <a:xfrm>
            <a:off x="950976" y="1097280"/>
            <a:ext cx="2258568" cy="822960"/>
          </a:xfrm>
          <a:prstGeom prst="rect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SOLUTION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5848" y="1097280"/>
            <a:ext cx="8266176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F5597"/>
                </a:solidFill>
                <a:latin typeface="Calibri"/>
              </a:rPr>
              <a:t>The idea: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the paramedic speaks; the laptop returns a structured, timestamped record of every drug and procedure, which the paramedic checks and signs — no internet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830628" cy="45720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  SPEAK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51760"/>
            <a:ext cx="1830628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Voice or typed note in English, Hindi or Hinglish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88996" y="2743200"/>
            <a:ext cx="292608" cy="310896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73044" y="2194560"/>
            <a:ext cx="1830628" cy="45720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  TRANSCRIBE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3044" y="2651760"/>
            <a:ext cx="1830628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Whisper large-v3-turbo on the laptop GPU, Hinglish vocabulary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95113" y="2743200"/>
            <a:ext cx="292608" cy="310896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79161" y="2194560"/>
            <a:ext cx="1830628" cy="45720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  EXTRACT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79161" y="2651760"/>
            <a:ext cx="1830628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Qwen 2.5 7B local LLM, output forced to a JSON schema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01230" y="2743200"/>
            <a:ext cx="292608" cy="310896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85278" y="2194560"/>
            <a:ext cx="1830628" cy="45720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  VERIFY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85278" y="2651760"/>
            <a:ext cx="1830628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Rules: drug lexicon, RxNorm codes, time parser, evidence and dose checks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07347" y="2743200"/>
            <a:ext cx="292608" cy="310896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791395" y="2194560"/>
            <a:ext cx="1830628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  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91395" y="2651760"/>
            <a:ext cx="1830628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Responder reviews, edits and confirms the record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114800"/>
            <a:ext cx="3563112" cy="132588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F5597"/>
                </a:solidFill>
                <a:latin typeface="Calibri"/>
              </a:rPr>
              <a:t>Tamper-evident audit chain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SQLite, SHA-256 hash chain: machine draft, human edits, transcript and audio hashes, model versions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2920" y="4114800"/>
            <a:ext cx="3563112" cy="132588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F5597"/>
                </a:solidFill>
                <a:latin typeface="Calibri"/>
              </a:rPr>
              <a:t>Printable handover report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One page for the receiving doctor, with every drug, dose, route and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58911" y="4114800"/>
            <a:ext cx="3563112" cy="132588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F5597"/>
                </a:solidFill>
                <a:latin typeface="Calibri"/>
              </a:rPr>
              <a:t>FHIR-lite bundle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MedicationAdministration, Procedure, Observation and Provenance resources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84780" y="5669280"/>
            <a:ext cx="7019391" cy="38404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Runs 100% offline on one laptop — no cloud, no patient data leaves the device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256032"/>
            <a:ext cx="11055096" cy="731520"/>
          </a:xfrm>
        </p:spPr>
        <p:txBody>
          <a:bodyPr wrap="square" lIns="45720" tIns="54864" rIns="45720" bIns="54864" anchor="ctr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Solution: What Makes It Different</a:t>
            </a:r>
          </a:p>
        </p:txBody>
      </p:sp>
      <p:sp>
        <p:nvSpPr>
          <p:cNvPr id="3" name="Section 3 number"/>
          <p:cNvSpPr/>
          <p:nvPr/>
        </p:nvSpPr>
        <p:spPr>
          <a:xfrm>
            <a:off x="566928" y="1097280"/>
            <a:ext cx="384048" cy="822960"/>
          </a:xfrm>
          <a:prstGeom prst="rect">
            <a:avLst/>
          </a:prstGeom>
          <a:solidFill>
            <a:srgbClr val="E7E6E6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95959"/>
                </a:solidFill>
                <a:latin typeface="Arial Black"/>
              </a:rPr>
              <a:t>3</a:t>
            </a:r>
          </a:p>
        </p:txBody>
      </p:sp>
      <p:sp>
        <p:nvSpPr>
          <p:cNvPr id="4" name="Section 3 label"/>
          <p:cNvSpPr/>
          <p:nvPr/>
        </p:nvSpPr>
        <p:spPr>
          <a:xfrm>
            <a:off x="950976" y="1097280"/>
            <a:ext cx="2258568" cy="822960"/>
          </a:xfrm>
          <a:prstGeom prst="rect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SOLUTION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03120"/>
            <a:ext cx="2642616" cy="388620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54864" rIns="201168" bIns="54864" rtlCol="0" anchor="ctr"/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OUR USP*</a:t>
            </a:r>
          </a:p>
          <a:p>
            <a:pPr algn="l">
              <a:spcAft>
                <a:spcPts val="800"/>
              </a:spcAft>
            </a:pPr>
            <a:r>
              <a:rPr sz="1700" b="0" i="1">
                <a:solidFill>
                  <a:srgbClr val="FFFFFF"/>
                </a:solidFill>
                <a:latin typeface="Georgia"/>
              </a:rPr>
              <a:t>An offline, Hinglish-native voice scribe that checks every AI suggestion against the paramedic’s own words — and makes the record tamper-evident from the first minute.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5848" y="1097280"/>
            <a:ext cx="1874519" cy="41148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WHAT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21807" y="1097280"/>
            <a:ext cx="2743200" cy="411480"/>
          </a:xfrm>
          <a:prstGeom prst="rect">
            <a:avLst/>
          </a:prstGeom>
          <a:solidFill>
            <a:srgbClr val="84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TYPICAL AI SCRIBE</a:t>
            </a:r>
          </a:p>
        </p:txBody>
      </p:sp>
      <p:sp>
        <p:nvSpPr>
          <p:cNvPr id="8" name="Rectangle 7"/>
          <p:cNvSpPr/>
          <p:nvPr/>
        </p:nvSpPr>
        <p:spPr>
          <a:xfrm>
            <a:off x="8156447" y="1097280"/>
            <a:ext cx="3465576" cy="41148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FIELD-TO-RECORD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581912"/>
            <a:ext cx="1874519" cy="658368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Connectivity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21807" y="1581912"/>
            <a:ext cx="2743200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Needs the 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6447" y="1581912"/>
            <a:ext cx="3465576" cy="65836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Fully offline, on the device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2313432"/>
            <a:ext cx="1874519" cy="658368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Language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21807" y="2313432"/>
            <a:ext cx="2743200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English-first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6447" y="2313432"/>
            <a:ext cx="3465576" cy="65836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Hindi, Hinglish, Devanagari, Indian brand names (Dolo, Ondem, Avil)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3044952"/>
            <a:ext cx="1874519" cy="658368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Trust in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21807" y="3044952"/>
            <a:ext cx="2743200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Output taken as 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6447" y="3044952"/>
            <a:ext cx="3465576" cy="65836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Every item must quote the transcript; wrong drugs corrected; doses checked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55848" y="3776472"/>
            <a:ext cx="1874519" cy="658368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Record integrity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21807" y="3776472"/>
            <a:ext cx="2743200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Editable note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6447" y="3776472"/>
            <a:ext cx="3465576" cy="65836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Signed, hash-chained, tamper-evident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5848" y="4507992"/>
            <a:ext cx="1874519" cy="658368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Setting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21807" y="4507992"/>
            <a:ext cx="2743200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Clinic desk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56447" y="4507992"/>
            <a:ext cx="3465576" cy="65836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Noisy field, hands busy, no signal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55848" y="5239512"/>
            <a:ext cx="1874519" cy="658368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Cost &amp; scale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21807" y="5239512"/>
            <a:ext cx="2743200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Per-minute cloud fees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56447" y="5239512"/>
            <a:ext cx="3465576" cy="65836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Open models on a commodity laptop, no usage fees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6053328"/>
            <a:ext cx="4572000" cy="32004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262626"/>
                </a:solidFill>
                <a:latin typeface="Calibri"/>
              </a:rPr>
              <a:t>*Unique Selling Proposition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256032"/>
            <a:ext cx="11055096" cy="731520"/>
          </a:xfrm>
        </p:spPr>
        <p:txBody>
          <a:bodyPr wrap="square" lIns="45720" tIns="54864" rIns="45720" bIns="54864" anchor="ctr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Solution: Key Features &amp; Use Cases</a:t>
            </a:r>
          </a:p>
        </p:txBody>
      </p:sp>
      <p:sp>
        <p:nvSpPr>
          <p:cNvPr id="3" name="Section 3 number"/>
          <p:cNvSpPr/>
          <p:nvPr/>
        </p:nvSpPr>
        <p:spPr>
          <a:xfrm>
            <a:off x="566928" y="1097280"/>
            <a:ext cx="384048" cy="822960"/>
          </a:xfrm>
          <a:prstGeom prst="rect">
            <a:avLst/>
          </a:prstGeom>
          <a:solidFill>
            <a:srgbClr val="E7E6E6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95959"/>
                </a:solidFill>
                <a:latin typeface="Arial Black"/>
              </a:rPr>
              <a:t>3</a:t>
            </a:r>
          </a:p>
        </p:txBody>
      </p:sp>
      <p:sp>
        <p:nvSpPr>
          <p:cNvPr id="4" name="Section 3 label"/>
          <p:cNvSpPr/>
          <p:nvPr/>
        </p:nvSpPr>
        <p:spPr>
          <a:xfrm>
            <a:off x="950976" y="1097280"/>
            <a:ext cx="2258568" cy="822960"/>
          </a:xfrm>
          <a:prstGeom prst="rect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SOLUTION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03120"/>
            <a:ext cx="2642616" cy="4069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F5597"/>
                </a:solidFill>
                <a:latin typeface="Calibri"/>
              </a:rPr>
              <a:t>Key features</a:t>
            </a:r>
          </a:p>
          <a:p>
            <a:pPr marL="182880" indent="-182880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Voice or typed input in EN / HI / Hinglish</a:t>
            </a:r>
          </a:p>
          <a:p>
            <a:pPr marL="182880" indent="-182880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Drug, dose, route, time + RxNorm codes</a:t>
            </a:r>
          </a:p>
          <a:p>
            <a:pPr marL="182880" indent="-182880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“10 min ago” → exact timestamp</a:t>
            </a:r>
          </a:p>
          <a:p>
            <a:pPr marL="182880" indent="-182880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Every item shows its source words</a:t>
            </a:r>
          </a:p>
          <a:p>
            <a:pPr marL="182880" indent="-182880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Flags missing dose, high dose, unverified items</a:t>
            </a:r>
          </a:p>
          <a:p>
            <a:pPr marL="182880" indent="-182880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Review, edit and sign</a:t>
            </a:r>
          </a:p>
          <a:p>
            <a:pPr marL="182880" indent="-182880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Tamper-evident chain, report, FHIR-lite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143000"/>
            <a:ext cx="5577840" cy="5029200"/>
          </a:xfrm>
          <a:prstGeom prst="rect">
            <a:avLst/>
          </a:prstGeom>
          <a:noFill/>
          <a:ln w="15875">
            <a:solidFill>
              <a:srgbClr val="2F559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0" y="1188720"/>
            <a:ext cx="5394959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F5597"/>
                </a:solidFill>
                <a:latin typeface="Calibri"/>
              </a:rPr>
              <a:t>Field-to-Record  (offline device)</a:t>
            </a:r>
          </a:p>
        </p:txBody>
      </p:sp>
      <p:sp>
        <p:nvSpPr>
          <p:cNvPr id="8" name="Oval 7"/>
          <p:cNvSpPr/>
          <p:nvPr/>
        </p:nvSpPr>
        <p:spPr>
          <a:xfrm>
            <a:off x="5852160" y="1691640"/>
            <a:ext cx="3017520" cy="566928"/>
          </a:xfrm>
          <a:prstGeom prst="ellipse">
            <a:avLst/>
          </a:prstGeom>
          <a:solidFill>
            <a:srgbClr val="F2F2F2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Dictate note (voice / text)</a:t>
            </a:r>
          </a:p>
        </p:txBody>
      </p:sp>
      <p:sp>
        <p:nvSpPr>
          <p:cNvPr id="9" name="Oval 8"/>
          <p:cNvSpPr/>
          <p:nvPr/>
        </p:nvSpPr>
        <p:spPr>
          <a:xfrm>
            <a:off x="5852160" y="2423160"/>
            <a:ext cx="3017520" cy="566928"/>
          </a:xfrm>
          <a:prstGeom prst="ellipse">
            <a:avLst/>
          </a:prstGeom>
          <a:solidFill>
            <a:srgbClr val="F2F2F2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Review &amp; correct record</a:t>
            </a:r>
          </a:p>
        </p:txBody>
      </p:sp>
      <p:sp>
        <p:nvSpPr>
          <p:cNvPr id="10" name="Oval 9"/>
          <p:cNvSpPr/>
          <p:nvPr/>
        </p:nvSpPr>
        <p:spPr>
          <a:xfrm>
            <a:off x="5852160" y="3154680"/>
            <a:ext cx="3017520" cy="566928"/>
          </a:xfrm>
          <a:prstGeom prst="ellipse">
            <a:avLst/>
          </a:prstGeom>
          <a:solidFill>
            <a:srgbClr val="F2F2F2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Sign record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0" y="3886200"/>
            <a:ext cx="3017520" cy="566928"/>
          </a:xfrm>
          <a:prstGeom prst="ellipse">
            <a:avLst/>
          </a:prstGeom>
          <a:solidFill>
            <a:srgbClr val="F2F2F2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Hand over printed report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0" y="4617720"/>
            <a:ext cx="3017520" cy="566928"/>
          </a:xfrm>
          <a:prstGeom prst="ellipse">
            <a:avLst/>
          </a:prstGeom>
          <a:solidFill>
            <a:srgbClr val="F2F2F2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Export FHIR-lite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0" y="5349240"/>
            <a:ext cx="3017520" cy="566928"/>
          </a:xfrm>
          <a:prstGeom prst="ellipse">
            <a:avLst/>
          </a:prstGeom>
          <a:solidFill>
            <a:srgbClr val="F2F2F2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Verify audit chain</a:t>
            </a:r>
          </a:p>
        </p:txBody>
      </p:sp>
      <p:sp>
        <p:nvSpPr>
          <p:cNvPr id="14" name="Oval 13"/>
          <p:cNvSpPr/>
          <p:nvPr/>
        </p:nvSpPr>
        <p:spPr>
          <a:xfrm>
            <a:off x="3685032" y="2862072"/>
            <a:ext cx="402336" cy="402336"/>
          </a:xfrm>
          <a:prstGeom prst="ellipse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 Same Side Corner Rectangle 14"/>
          <p:cNvSpPr/>
          <p:nvPr/>
        </p:nvSpPr>
        <p:spPr>
          <a:xfrm>
            <a:off x="3593592" y="3291840"/>
            <a:ext cx="585216" cy="457200"/>
          </a:xfrm>
          <a:prstGeom prst="round2SameRect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0" y="3794760"/>
            <a:ext cx="1371600" cy="548640"/>
          </a:xfrm>
          <a:prstGeom prst="rect">
            <a:avLst/>
          </a:prstGeom>
          <a:noFill/>
        </p:spPr>
        <p:txBody>
          <a:bodyPr wrap="square" lIns="18288" tIns="54864" rIns="18288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Paramedic</a:t>
            </a:r>
          </a:p>
        </p:txBody>
      </p:sp>
      <p:sp>
        <p:nvSpPr>
          <p:cNvPr id="17" name="Oval 16"/>
          <p:cNvSpPr/>
          <p:nvPr/>
        </p:nvSpPr>
        <p:spPr>
          <a:xfrm>
            <a:off x="10771632" y="1901952"/>
            <a:ext cx="402336" cy="402336"/>
          </a:xfrm>
          <a:prstGeom prst="ellipse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>
            <a:off x="10680192" y="2331720"/>
            <a:ext cx="585216" cy="457200"/>
          </a:xfrm>
          <a:prstGeom prst="round2SameRect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87000" y="2834640"/>
            <a:ext cx="1371600" cy="548640"/>
          </a:xfrm>
          <a:prstGeom prst="rect">
            <a:avLst/>
          </a:prstGeom>
          <a:noFill/>
        </p:spPr>
        <p:txBody>
          <a:bodyPr wrap="square" lIns="18288" tIns="54864" rIns="18288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ED doctor</a:t>
            </a:r>
          </a:p>
        </p:txBody>
      </p:sp>
      <p:sp>
        <p:nvSpPr>
          <p:cNvPr id="20" name="Oval 19"/>
          <p:cNvSpPr/>
          <p:nvPr/>
        </p:nvSpPr>
        <p:spPr>
          <a:xfrm>
            <a:off x="10771632" y="4416552"/>
            <a:ext cx="402336" cy="402336"/>
          </a:xfrm>
          <a:prstGeom prst="ellipse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 Same Side Corner Rectangle 20"/>
          <p:cNvSpPr/>
          <p:nvPr/>
        </p:nvSpPr>
        <p:spPr>
          <a:xfrm>
            <a:off x="10680192" y="4846320"/>
            <a:ext cx="585216" cy="457200"/>
          </a:xfrm>
          <a:prstGeom prst="round2SameRect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87000" y="5349240"/>
            <a:ext cx="1371600" cy="548640"/>
          </a:xfrm>
          <a:prstGeom prst="rect">
            <a:avLst/>
          </a:prstGeom>
          <a:noFill/>
        </p:spPr>
        <p:txBody>
          <a:bodyPr wrap="square" lIns="18288" tIns="54864" rIns="18288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Audit / quality team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206240" y="1975104"/>
            <a:ext cx="1645920" cy="1453896"/>
          </a:xfrm>
          <a:prstGeom prst="line">
            <a:avLst/>
          </a:prstGeom>
          <a:ln w="19050">
            <a:solidFill>
              <a:srgbClr val="849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206240" y="2706624"/>
            <a:ext cx="1645920" cy="722376"/>
          </a:xfrm>
          <a:prstGeom prst="line">
            <a:avLst/>
          </a:prstGeom>
          <a:ln w="19050">
            <a:solidFill>
              <a:srgbClr val="849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06240" y="3429000"/>
            <a:ext cx="1645920" cy="9144"/>
          </a:xfrm>
          <a:prstGeom prst="line">
            <a:avLst/>
          </a:prstGeom>
          <a:ln w="19050">
            <a:solidFill>
              <a:srgbClr val="849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206240" y="3429000"/>
            <a:ext cx="1645920" cy="740663"/>
          </a:xfrm>
          <a:prstGeom prst="line">
            <a:avLst/>
          </a:prstGeom>
          <a:ln w="19050">
            <a:solidFill>
              <a:srgbClr val="849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869680" y="2514600"/>
            <a:ext cx="1783080" cy="1655063"/>
          </a:xfrm>
          <a:prstGeom prst="line">
            <a:avLst/>
          </a:prstGeom>
          <a:ln w="19050">
            <a:solidFill>
              <a:srgbClr val="849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869680" y="2514600"/>
            <a:ext cx="1783080" cy="2386584"/>
          </a:xfrm>
          <a:prstGeom prst="line">
            <a:avLst/>
          </a:prstGeom>
          <a:ln w="19050">
            <a:solidFill>
              <a:srgbClr val="849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8869680" y="4901184"/>
            <a:ext cx="1783080" cy="128016"/>
          </a:xfrm>
          <a:prstGeom prst="line">
            <a:avLst/>
          </a:prstGeom>
          <a:ln w="19050">
            <a:solidFill>
              <a:srgbClr val="849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869680" y="5029200"/>
            <a:ext cx="1783080" cy="603503"/>
          </a:xfrm>
          <a:prstGeom prst="line">
            <a:avLst/>
          </a:prstGeom>
          <a:ln w="19050">
            <a:solidFill>
              <a:srgbClr val="849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256032"/>
            <a:ext cx="11055096" cy="731520"/>
          </a:xfrm>
        </p:spPr>
        <p:txBody>
          <a:bodyPr wrap="square" lIns="45720" tIns="54864" rIns="45720" bIns="54864" anchor="ctr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Solution: Proof of Concept</a:t>
            </a:r>
          </a:p>
        </p:txBody>
      </p:sp>
      <p:sp>
        <p:nvSpPr>
          <p:cNvPr id="3" name="Section 3 number"/>
          <p:cNvSpPr/>
          <p:nvPr/>
        </p:nvSpPr>
        <p:spPr>
          <a:xfrm>
            <a:off x="566928" y="1097280"/>
            <a:ext cx="384048" cy="822960"/>
          </a:xfrm>
          <a:prstGeom prst="rect">
            <a:avLst/>
          </a:prstGeom>
          <a:solidFill>
            <a:srgbClr val="E7E6E6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95959"/>
                </a:solidFill>
                <a:latin typeface="Arial Black"/>
              </a:rPr>
              <a:t>3</a:t>
            </a:r>
          </a:p>
        </p:txBody>
      </p:sp>
      <p:sp>
        <p:nvSpPr>
          <p:cNvPr id="4" name="Section 3 label"/>
          <p:cNvSpPr/>
          <p:nvPr/>
        </p:nvSpPr>
        <p:spPr>
          <a:xfrm>
            <a:off x="950976" y="1097280"/>
            <a:ext cx="2258568" cy="822960"/>
          </a:xfrm>
          <a:prstGeom prst="rect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SOLUTION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03120"/>
            <a:ext cx="2642616" cy="4069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F5597"/>
                </a:solidFill>
                <a:latin typeface="Calibri"/>
              </a:rPr>
              <a:t>What we built</a:t>
            </a:r>
          </a:p>
          <a:p>
            <a:pPr marL="182880" indent="-182880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Offline FastAPI app + browser UI</a:t>
            </a:r>
          </a:p>
          <a:p>
            <a:pPr marL="182880" indent="-182880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Whisper large-v3-turbo on GPU</a:t>
            </a:r>
          </a:p>
          <a:p>
            <a:pPr marL="182880" indent="-182880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Qwen 2.5 7B via Ollama, auto-started</a:t>
            </a:r>
          </a:p>
          <a:p>
            <a:pPr marL="182880" indent="-182880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Rule engine with drug lexicon and RxNorm</a:t>
            </a:r>
          </a:p>
          <a:p>
            <a:pPr marL="182880" indent="-182880" algn="l">
              <a:spcAft>
                <a:spcPts val="500"/>
              </a:spcAft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37 automated tests + an evaluation harness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5848" y="1097280"/>
            <a:ext cx="1929384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200"/>
              </a:spcAft>
            </a:pPr>
            <a:r>
              <a:rPr sz="3600" b="1" i="0">
                <a:solidFill>
                  <a:srgbClr val="2F5597"/>
                </a:solidFill>
                <a:latin typeface="Georgia"/>
              </a:rPr>
              <a:t>1.00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Drug name F1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8112" y="1097280"/>
            <a:ext cx="1929384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200"/>
              </a:spcAft>
            </a:pPr>
            <a:r>
              <a:rPr sz="3600" b="1" i="0">
                <a:solidFill>
                  <a:srgbClr val="2F5597"/>
                </a:solidFill>
                <a:latin typeface="Georgia"/>
              </a:rPr>
              <a:t>1.00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Drug + dose + unit + route F1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0376" y="1097280"/>
            <a:ext cx="1929384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200"/>
              </a:spcAft>
            </a:pPr>
            <a:r>
              <a:rPr sz="3600" b="1" i="0">
                <a:solidFill>
                  <a:srgbClr val="2F5597"/>
                </a:solidFill>
                <a:latin typeface="Georgia"/>
              </a:rPr>
              <a:t>0.96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Procedure F1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0" y="1097280"/>
            <a:ext cx="1929384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200"/>
              </a:spcAft>
            </a:pPr>
            <a:r>
              <a:rPr sz="3600" b="1" i="0">
                <a:solidFill>
                  <a:srgbClr val="2F5597"/>
                </a:solidFill>
                <a:latin typeface="Georgia"/>
              </a:rPr>
              <a:t>4/4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Chief complaints on the right body part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2606040"/>
            <a:ext cx="4041648" cy="54864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62626"/>
                </a:solidFill>
                <a:latin typeface="Calibri"/>
              </a:rPr>
              <a:t>~6–9 s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to extract a note (RTX 4060 laptop)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0375" y="2606040"/>
            <a:ext cx="4041648" cy="54864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62626"/>
                </a:solidFill>
                <a:latin typeface="Calibri"/>
              </a:rPr>
              <a:t>3.4 s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to transcribe 22 s of speech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3337560"/>
            <a:ext cx="8266176" cy="41148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LIVE DEMO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3840480"/>
            <a:ext cx="1367942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F5597"/>
                </a:solidFill>
                <a:latin typeface="Georgia"/>
              </a:rPr>
              <a:t>1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Record a Hinglish note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87798" y="4279392"/>
            <a:ext cx="228600" cy="274320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80406" y="3840480"/>
            <a:ext cx="1367942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F5597"/>
                </a:solidFill>
                <a:latin typeface="Georgia"/>
              </a:rPr>
              <a:t>2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Review items with source words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512356" y="4279392"/>
            <a:ext cx="228600" cy="274320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04964" y="3840480"/>
            <a:ext cx="1367942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F5597"/>
                </a:solidFill>
                <a:latin typeface="Georgia"/>
              </a:rPr>
              <a:t>3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Edit a dose, confirm &amp; sign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236915" y="4279392"/>
            <a:ext cx="228600" cy="274320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29523" y="3840480"/>
            <a:ext cx="1367942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F5597"/>
                </a:solidFill>
                <a:latin typeface="Georgia"/>
              </a:rPr>
              <a:t>4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Open report and FHIR-lite JSON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961473" y="4279392"/>
            <a:ext cx="228600" cy="274320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254081" y="3840480"/>
            <a:ext cx="1367942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F5597"/>
                </a:solidFill>
                <a:latin typeface="Georgia"/>
              </a:rPr>
              <a:t>5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Tamper with the DB → caught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5166360"/>
            <a:ext cx="8266176" cy="548640"/>
          </a:xfrm>
          <a:prstGeom prst="rect">
            <a:avLst/>
          </a:prstGeom>
          <a:noFill/>
        </p:spPr>
        <p:txBody>
          <a:bodyPr wrap="square" lIns="45720" tIns="54864" rIns="45720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Evaluated on 26 synthetic, hand-labelled English, Hindi and Hinglish notes; the rules were tuned on this set. Held-out notes and real paramedic recordings are next.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5760720"/>
            <a:ext cx="8266176" cy="365760"/>
          </a:xfrm>
          <a:prstGeom prst="rect">
            <a:avLst/>
          </a:prstGeom>
          <a:noFill/>
        </p:spPr>
        <p:txBody>
          <a:bodyPr wrap="square" lIns="45720" tIns="54864" rIns="45720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2626"/>
                </a:solidFill>
                <a:latin typeface="Calibri"/>
              </a:rPr>
              <a:t>Code: </a:t>
            </a:r>
            <a:r>
              <a:rPr sz="1300" b="0" i="0">
                <a:solidFill>
                  <a:srgbClr val="262626"/>
                </a:solidFill>
                <a:latin typeface="Calibri"/>
              </a:rPr>
              <a:t>github.com/Akshat-Balariya/jatayuDemo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256032"/>
            <a:ext cx="11055096" cy="731520"/>
          </a:xfrm>
        </p:spPr>
        <p:txBody>
          <a:bodyPr wrap="square" lIns="45720" tIns="54864" rIns="45720" bIns="54864" anchor="ctr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Future Readiness: Roadmap</a:t>
            </a:r>
          </a:p>
        </p:txBody>
      </p:sp>
      <p:sp>
        <p:nvSpPr>
          <p:cNvPr id="3" name="Section 4 number"/>
          <p:cNvSpPr/>
          <p:nvPr/>
        </p:nvSpPr>
        <p:spPr>
          <a:xfrm>
            <a:off x="566928" y="1097280"/>
            <a:ext cx="384048" cy="822960"/>
          </a:xfrm>
          <a:prstGeom prst="rect">
            <a:avLst/>
          </a:prstGeom>
          <a:solidFill>
            <a:srgbClr val="E7E6E6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95959"/>
                </a:solidFill>
                <a:latin typeface="Arial Black"/>
              </a:rPr>
              <a:t>4</a:t>
            </a:r>
          </a:p>
        </p:txBody>
      </p:sp>
      <p:sp>
        <p:nvSpPr>
          <p:cNvPr id="4" name="Section 4 label"/>
          <p:cNvSpPr/>
          <p:nvPr/>
        </p:nvSpPr>
        <p:spPr>
          <a:xfrm>
            <a:off x="950976" y="1097280"/>
            <a:ext cx="2258568" cy="822960"/>
          </a:xfrm>
          <a:prstGeom prst="rect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FUTURE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5848" y="1097280"/>
            <a:ext cx="8266176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From a working laptop proof of concept to a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field device in every ambulance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, then a product EMS fleets and hospitals buy.</a:t>
            </a:r>
          </a:p>
        </p:txBody>
      </p:sp>
      <p:sp>
        <p:nvSpPr>
          <p:cNvPr id="6" name="Pentagon 5"/>
          <p:cNvSpPr/>
          <p:nvPr/>
        </p:nvSpPr>
        <p:spPr>
          <a:xfrm>
            <a:off x="566928" y="2194560"/>
            <a:ext cx="2804922" cy="548640"/>
          </a:xfrm>
          <a:prstGeom prst="homePlat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228600" bIns="54864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PHASE 1 · POC (DONE)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880360"/>
            <a:ext cx="2603754" cy="237744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t"/>
          <a:lstStyle/>
          <a:p>
            <a:pPr marL="182880" indent="-18288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Offline laptop pipeline</a:t>
            </a:r>
          </a:p>
          <a:p>
            <a:pPr marL="182880" indent="-18288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English, Hindi, Hinglish</a:t>
            </a:r>
          </a:p>
          <a:p>
            <a:pPr marL="182880" indent="-18288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Grounding and safety rules</a:t>
            </a:r>
          </a:p>
          <a:p>
            <a:pPr marL="182880" indent="-18288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Hash chain, report, FHIR-lite</a:t>
            </a:r>
          </a:p>
        </p:txBody>
      </p:sp>
      <p:sp>
        <p:nvSpPr>
          <p:cNvPr id="8" name="Chevron 7"/>
          <p:cNvSpPr/>
          <p:nvPr/>
        </p:nvSpPr>
        <p:spPr>
          <a:xfrm>
            <a:off x="3353562" y="2194560"/>
            <a:ext cx="2804922" cy="548640"/>
          </a:xfrm>
          <a:prstGeom prst="chevron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228600" bIns="54864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PHASE 2 · FIELD-READY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3562" y="2880360"/>
            <a:ext cx="2603754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t"/>
          <a:lstStyle/>
          <a:p>
            <a:pPr marL="182880" indent="-18288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Android app (whisper.cpp + on-device LLM)</a:t>
            </a:r>
          </a:p>
          <a:p>
            <a:pPr marL="182880" indent="-18288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QR-code handover to hospitals</a:t>
            </a:r>
          </a:p>
          <a:p>
            <a:pPr marL="182880" indent="-18288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Per-device Ed25519 signatures</a:t>
            </a:r>
          </a:p>
          <a:p>
            <a:pPr marL="182880" indent="-18288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Tests with real paramedic recordings</a:t>
            </a:r>
          </a:p>
        </p:txBody>
      </p:sp>
      <p:sp>
        <p:nvSpPr>
          <p:cNvPr id="10" name="Chevron 9"/>
          <p:cNvSpPr/>
          <p:nvPr/>
        </p:nvSpPr>
        <p:spPr>
          <a:xfrm>
            <a:off x="6140196" y="2194560"/>
            <a:ext cx="2804922" cy="548640"/>
          </a:xfrm>
          <a:prstGeom prst="chevron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228600" bIns="54864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PHASE 3 · PILOT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0196" y="2880360"/>
            <a:ext cx="2603754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t"/>
          <a:lstStyle/>
          <a:p>
            <a:pPr marL="182880" indent="-18288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Pilot with one ambulance operator</a:t>
            </a:r>
          </a:p>
          <a:p>
            <a:pPr marL="182880" indent="-18288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ABDM-aligned FHIR, SNOMED CT codes</a:t>
            </a:r>
          </a:p>
          <a:p>
            <a:pPr marL="182880" indent="-18288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Encrypted storage, sync when online</a:t>
            </a:r>
          </a:p>
          <a:p>
            <a:pPr marL="182880" indent="-18288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Clinician review of outputs</a:t>
            </a:r>
          </a:p>
        </p:txBody>
      </p:sp>
      <p:sp>
        <p:nvSpPr>
          <p:cNvPr id="12" name="Chevron 11"/>
          <p:cNvSpPr/>
          <p:nvPr/>
        </p:nvSpPr>
        <p:spPr>
          <a:xfrm>
            <a:off x="8926830" y="2194560"/>
            <a:ext cx="2695194" cy="548640"/>
          </a:xfrm>
          <a:prstGeom prst="chevron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228600" bIns="54864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PHASE 4 · LAUNCH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26830" y="2880360"/>
            <a:ext cx="2603754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t"/>
          <a:lstStyle/>
          <a:p>
            <a:pPr marL="182880" indent="-18288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Per-device subscription for EMS fleets</a:t>
            </a:r>
          </a:p>
          <a:p>
            <a:pPr marL="182880" indent="-18288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Hospital receiving and audit dashboard</a:t>
            </a:r>
          </a:p>
          <a:p>
            <a:pPr marL="182880" indent="-18288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More Indian languages</a:t>
            </a:r>
          </a:p>
          <a:p>
            <a:pPr marL="182880" indent="-18288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State 108/112 partnerships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00807" y="5486400"/>
            <a:ext cx="6587337" cy="38404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Go-to-market: one EMS operator pilot → 108/112 fleets → hospital modules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256032"/>
            <a:ext cx="11055096" cy="731520"/>
          </a:xfrm>
        </p:spPr>
        <p:txBody>
          <a:bodyPr wrap="square" lIns="45720" tIns="54864" rIns="45720" bIns="54864" anchor="ctr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Future Readiness: Beyond Ambulances</a:t>
            </a:r>
          </a:p>
        </p:txBody>
      </p:sp>
      <p:sp>
        <p:nvSpPr>
          <p:cNvPr id="3" name="Section 4 number"/>
          <p:cNvSpPr/>
          <p:nvPr/>
        </p:nvSpPr>
        <p:spPr>
          <a:xfrm>
            <a:off x="566928" y="1097280"/>
            <a:ext cx="384048" cy="822960"/>
          </a:xfrm>
          <a:prstGeom prst="rect">
            <a:avLst/>
          </a:prstGeom>
          <a:solidFill>
            <a:srgbClr val="E7E6E6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95959"/>
                </a:solidFill>
                <a:latin typeface="Arial Black"/>
              </a:rPr>
              <a:t>4</a:t>
            </a:r>
          </a:p>
        </p:txBody>
      </p:sp>
      <p:sp>
        <p:nvSpPr>
          <p:cNvPr id="4" name="Section 4 label"/>
          <p:cNvSpPr/>
          <p:nvPr/>
        </p:nvSpPr>
        <p:spPr>
          <a:xfrm>
            <a:off x="950976" y="1097280"/>
            <a:ext cx="2258568" cy="822960"/>
          </a:xfrm>
          <a:prstGeom prst="rect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FUTURE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5848" y="1097280"/>
            <a:ext cx="8266176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F5597"/>
                </a:solidFill>
                <a:latin typeface="Calibri"/>
              </a:rPr>
              <a:t>The engine is domain-agnostic: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speech → structured record → human sign-off → tamper-evident log. Only the vocabulary and the record schema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3563112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2F5597"/>
                </a:solidFill>
                <a:latin typeface="Calibri"/>
              </a:rPr>
              <a:t>Disaster response</a:t>
            </a:r>
          </a:p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NDRF/SDRF teams triaging many casualties where there is no network.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2920" y="2194560"/>
            <a:ext cx="3563112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2F5597"/>
                </a:solidFill>
                <a:latin typeface="Calibri"/>
              </a:rPr>
              <a:t>Armed-forces medics</a:t>
            </a:r>
          </a:p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Battlefield care records that must stay offline and tamper-proof.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58911" y="2194560"/>
            <a:ext cx="3563112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2F5597"/>
                </a:solidFill>
                <a:latin typeface="Calibri"/>
              </a:rPr>
              <a:t>Home care &amp; rural health</a:t>
            </a:r>
          </a:p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ASHA/ANM visit notes dictated in local languages.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160520"/>
            <a:ext cx="3563112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2F5597"/>
                </a:solidFill>
                <a:latin typeface="Calibri"/>
              </a:rPr>
              <a:t>Veterinary field services</a:t>
            </a:r>
          </a:p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Livestock treatment and vaccination logs in villages.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920" y="4160520"/>
            <a:ext cx="3563112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2F5597"/>
                </a:solidFill>
                <a:latin typeface="Calibri"/>
              </a:rPr>
              <a:t>Industrial &amp; mining safety</a:t>
            </a:r>
          </a:p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First-aid and incident reports recorded on site.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8911" y="4160520"/>
            <a:ext cx="3563112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2F5597"/>
                </a:solidFill>
                <a:latin typeface="Calibri"/>
              </a:rPr>
              <a:t>Police &amp; fire services</a:t>
            </a:r>
          </a:p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On-scene incident statements, signed at the source.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1554480"/>
            <a:ext cx="10515600" cy="1005840"/>
          </a:xfrm>
          <a:prstGeom prst="rect">
            <a:avLst/>
          </a:prstGeom>
          <a:noFill/>
        </p:spPr>
        <p:txBody>
          <a:bodyPr wrap="square" lIns="45720" tIns="54864" rIns="45720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A1A1A"/>
                </a:solidFill>
                <a:latin typeface="Georg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2560320"/>
            <a:ext cx="10515600" cy="548640"/>
          </a:xfrm>
          <a:prstGeom prst="rect">
            <a:avLst/>
          </a:prstGeom>
          <a:noFill/>
        </p:spPr>
        <p:txBody>
          <a:bodyPr wrap="square" lIns="45720" tIns="54864" rIns="45720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2F5597"/>
                </a:solidFill>
                <a:latin typeface="Georgia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566160"/>
            <a:ext cx="1188720" cy="685800"/>
          </a:xfrm>
          <a:prstGeom prst="rect">
            <a:avLst/>
          </a:prstGeom>
          <a:solidFill>
            <a:srgbClr val="E7E6E6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595959"/>
                </a:solidFill>
                <a:latin typeface="Arial Black"/>
              </a:rPr>
              <a:t>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5648" y="3566160"/>
            <a:ext cx="2743200" cy="685800"/>
          </a:xfrm>
          <a:prstGeom prst="rect">
            <a:avLst/>
          </a:prstGeom>
          <a:solidFill>
            <a:srgbClr val="8497B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SEGFAULT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4892040"/>
            <a:ext cx="7315200" cy="411480"/>
          </a:xfrm>
          <a:prstGeom prst="rect">
            <a:avLst/>
          </a:prstGeom>
          <a:noFill/>
        </p:spPr>
        <p:txBody>
          <a:bodyPr wrap="square" lIns="45720" tIns="54864" rIns="45720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F5597"/>
                </a:solidFill>
                <a:latin typeface="Calibri"/>
              </a:rPr>
              <a:t>github.com/Akshat-Balariya/jatayuDemo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669280"/>
            <a:ext cx="4974336" cy="38404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Field-to-Record — speak the care, keep the record.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1747</Words>
  <Application>Microsoft Office PowerPoint</Application>
  <PresentationFormat>Widescreen</PresentationFormat>
  <Paragraphs>223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Georgia</vt:lpstr>
      <vt:lpstr>Office Theme</vt:lpstr>
      <vt:lpstr>PowerPoint Presentation</vt:lpstr>
      <vt:lpstr>Our Solution at a Glance</vt:lpstr>
      <vt:lpstr>Business Need &amp; Opportunity</vt:lpstr>
      <vt:lpstr>Target Segment &amp; Market</vt:lpstr>
      <vt:lpstr>Solution: How It Works</vt:lpstr>
      <vt:lpstr>Solution: What Makes It Different</vt:lpstr>
      <vt:lpstr>Solution: Key Features &amp; Use Cases</vt:lpstr>
      <vt:lpstr>Solution: Proof of Concept</vt:lpstr>
      <vt:lpstr>Future Readiness: Roadmap</vt:lpstr>
      <vt:lpstr>Future Readiness: Beyond Ambulances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 Presentation Template  </dc:title>
  <dc:creator>Bhavana Pappireddy</dc:creator>
  <cp:lastModifiedBy>Akshat Balariya</cp:lastModifiedBy>
  <cp:revision>2</cp:revision>
  <dcterms:created xsi:type="dcterms:W3CDTF">2025-02-04T11:06:39Z</dcterms:created>
  <dcterms:modified xsi:type="dcterms:W3CDTF">2026-10-24T06:50:21Z</dcterms:modified>
</cp:coreProperties>
</file>